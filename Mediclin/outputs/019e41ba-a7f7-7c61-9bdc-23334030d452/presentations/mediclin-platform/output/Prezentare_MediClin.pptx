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Prezint aplicația MediClin, un sistem desktop pentru managementul activității unei clinici medicale.
Aplicația are două roluri principale, medic și pacient, iar scopul este să centralizeze programările, fișa medicală, rețetele, analizele și comunicarea.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ales tema deoarece o clinică are multe activități conectate: programare, consultație, diagnostic, rețetă, analize, mesaje.
Problema reală este fragmentarea informației. MediClin încearcă să reducă acest haos printr-o platformă unitară.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analizat soluții existente pentru cabinete și clinici.
MediClin nu încearcă să copieze un sistem comercial mare, ci să preia ideile esențiale: programări, dosar medical, comunicare și raportare, într-o aplicație clară pentru două roluri.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Scopul proiectului este o aplicație practică, nu doar o interfață.
Obiectivele urmăresc cele mai importante procese din clinică: programarea, consultația, documentarea și comunicarea.
Cerințele includ stabilitate, validare, roluri și trasabilitate.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arată că pacientul și medicul folosesc unele funcții comune, cum ar fi autentificarea, programările, mesajele și notificările.
Medicul are în plus zona de consultații, fișe și rapoarte, iar pacientul are accent pe vizualizare, programare și acces la documente.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Tehnologiile sunt alese pentru o aplicație desktop stabilă pe Windows.
.NET 8 și WPF oferă baza aplicației, iar MySQL păstrează datele medicale și administrative.
Modelul pe straturi ajută la mentenanță și la extindere.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Slide-ul arată activitatea de versionare: repository-ul și ultimele commit-uri.
Pentru prezentarea finală, pot deschide GitHub și înlocui zona din stânga cu o captură reală a paginii repository-ului.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demo arăt rapid autentificarea, trecerea între roluri, pagina de programări, exportul de PDF și notificările.
Important este să demonstrez fluxul real, nu fiecare detaliu tehnic.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Rezultatul este o aplicație funcțională cu fluxuri pentru ambele roluri.
Am lucrat și la partea de realism: notificări, audit, exporturi, dark mode, validări și separarea logicii.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concluzie, MediClin acoperă un scenariu realist de clinică și poate fi extins în continuare.
Cele mai importante realizări sunt centralizarea datelor, separarea pe roluri și funcțiile practice de export, notificări și raportare.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DICLIN">
    <p:bg>
      <p:bgPr>
        <a:solidFill>
          <a:srgbClr val="F6FAF8"/>
        </a:solidFill>
      </p:bgPr>
    </p:bg>
    <p:spTree>
      <p:nvGrpSpPr>
        <p:cNvPr id="1" name=""/>
        <p:cNvGrpSpPr/>
        <p:nvPr/>
      </p:nvGrpSpPr>
      <p:grpSpPr>
        <a:xfrm>
          <a:off x="0" y="0"/>
          <a:ext cx="0" cy="0"/>
          <a:chOff x="0" y="0"/>
          <a:chExt cx="0" cy="0"/>
        </a:xfrm>
      </p:grpSpPr>
      <p:sp>
        <p:nvSpPr>
          <p:cNvPr id="2" name="Shape 0"/>
          <p:cNvSpPr/>
          <p:nvPr/>
        </p:nvSpPr>
        <p:spPr>
          <a:xfrm>
            <a:off x="438912" y="6473952"/>
            <a:ext cx="11320272" cy="0"/>
          </a:xfrm>
          <a:prstGeom prst="line">
            <a:avLst/>
          </a:prstGeom>
          <a:noFill/>
          <a:ln w="12700">
            <a:solidFill>
              <a:srgbClr val="D9E7E2"/>
            </a:solidFill>
            <a:prstDash val="solid"/>
          </a:ln>
        </p:spPr>
      </p:sp>
      <p:sp>
        <p:nvSpPr>
          <p:cNvPr id="3" name="Text 1"/>
          <p:cNvSpPr/>
          <p:nvPr/>
        </p:nvSpPr>
        <p:spPr>
          <a:xfrm>
            <a:off x="530352" y="6528816"/>
            <a:ext cx="2834640" cy="164592"/>
          </a:xfrm>
          <a:prstGeom prst="rect">
            <a:avLst/>
          </a:prstGeom>
          <a:noFill/>
          <a:ln/>
        </p:spPr>
        <p:txBody>
          <a:bodyPr wrap="square" rtlCol="0" anchor="ctr"/>
          <a:lstStyle/>
          <a:p>
            <a:pPr indent="0" marL="0">
              <a:buNone/>
            </a:pPr>
            <a:r>
              <a:rPr lang="en-US" sz="650" dirty="0">
                <a:solidFill>
                  <a:srgbClr val="6B7C86"/>
                </a:solidFill>
                <a:latin typeface="Aptos" pitchFamily="34" charset="0"/>
                <a:ea typeface="Aptos" pitchFamily="34" charset="-122"/>
                <a:cs typeface="Aptos" pitchFamily="34" charset="-120"/>
              </a:rPr>
              <a:t>MediClin · Care. Connect. Cure.</a:t>
            </a:r>
            <a:endParaRPr lang="en-US" sz="650" dirty="0"/>
          </a:p>
        </p:txBody>
      </p:sp>
      <p:sp>
        <p:nvSpPr>
          <p:cNvPr id="4" name="Text 2"/>
          <p:cNvSpPr/>
          <p:nvPr/>
        </p:nvSpPr>
        <p:spPr>
          <a:xfrm>
            <a:off x="8915400" y="6528816"/>
            <a:ext cx="2743200" cy="164592"/>
          </a:xfrm>
          <a:prstGeom prst="rect">
            <a:avLst/>
          </a:prstGeom>
          <a:noFill/>
          <a:ln/>
        </p:spPr>
        <p:txBody>
          <a:bodyPr wrap="square" rtlCol="0" anchor="ctr"/>
          <a:lstStyle/>
          <a:p>
            <a:pPr algn="r" indent="0" marL="0">
              <a:buNone/>
            </a:pPr>
            <a:r>
              <a:rPr lang="en-US" sz="650" dirty="0">
                <a:solidFill>
                  <a:srgbClr val="6B7C86"/>
                </a:solidFill>
                <a:latin typeface="Aptos" pitchFamily="34" charset="0"/>
                <a:ea typeface="Aptos" pitchFamily="34" charset="-122"/>
                <a:cs typeface="Aptos" pitchFamily="34" charset="-120"/>
              </a:rPr>
              <a:t>Proiect aplicație desktop medicală</a:t>
            </a:r>
            <a:endParaRPr lang="en-US" sz="6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B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BF8"/>
          </a:solidFill>
          <a:ln w="12700">
            <a:solidFill>
              <a:srgbClr val="F4FBF8"/>
            </a:solidFill>
            <a:prstDash val="solid"/>
          </a:ln>
        </p:spPr>
      </p:sp>
      <p:sp>
        <p:nvSpPr>
          <p:cNvPr id="3" name="Shape 1"/>
          <p:cNvSpPr/>
          <p:nvPr/>
        </p:nvSpPr>
        <p:spPr>
          <a:xfrm>
            <a:off x="0" y="0"/>
            <a:ext cx="4663440" cy="6858000"/>
          </a:xfrm>
          <a:prstGeom prst="rect">
            <a:avLst/>
          </a:prstGeom>
          <a:solidFill>
            <a:srgbClr val="0F7B62"/>
          </a:solidFill>
          <a:ln w="12700">
            <a:solidFill>
              <a:srgbClr val="0F7B62"/>
            </a:solidFill>
            <a:prstDash val="solid"/>
          </a:ln>
        </p:spPr>
      </p:sp>
      <p:pic>
        <p:nvPicPr>
          <p:cNvPr id="4" name="Image 0" descr="D:\medclin\Mediclin\Mediclin.UI\Assets\logo-mediclin.png">    </p:cNvPr>
          <p:cNvPicPr>
            <a:picLocks noChangeAspect="1"/>
          </p:cNvPicPr>
          <p:nvPr/>
        </p:nvPicPr>
        <p:blipFill>
          <a:blip r:embed="rId1"/>
          <a:stretch>
            <a:fillRect/>
          </a:stretch>
        </p:blipFill>
        <p:spPr>
          <a:xfrm>
            <a:off x="731520" y="566928"/>
            <a:ext cx="1261872" cy="1261872"/>
          </a:xfrm>
          <a:prstGeom prst="rect">
            <a:avLst/>
          </a:prstGeom>
        </p:spPr>
      </p:pic>
      <p:sp>
        <p:nvSpPr>
          <p:cNvPr id="5" name="Text 2"/>
          <p:cNvSpPr/>
          <p:nvPr/>
        </p:nvSpPr>
        <p:spPr>
          <a:xfrm>
            <a:off x="749808" y="2212848"/>
            <a:ext cx="3657600" cy="420624"/>
          </a:xfrm>
          <a:prstGeom prst="rect">
            <a:avLst/>
          </a:prstGeom>
          <a:noFill/>
          <a:ln/>
        </p:spPr>
        <p:txBody>
          <a:bodyPr wrap="square" lIns="0" tIns="0" rIns="0" bIns="0" rtlCol="0" anchor="ctr"/>
          <a:lstStyle/>
          <a:p>
            <a:pPr indent="0" marL="0">
              <a:buNone/>
            </a:pPr>
            <a:r>
              <a:rPr lang="en-US" sz="2900" b="1" dirty="0">
                <a:solidFill>
                  <a:srgbClr val="FFFFFF"/>
                </a:solidFill>
              </a:rPr>
              <a:t>MediClin</a:t>
            </a:r>
            <a:endParaRPr lang="en-US" sz="2900" dirty="0"/>
          </a:p>
        </p:txBody>
      </p:sp>
      <p:sp>
        <p:nvSpPr>
          <p:cNvPr id="6" name="Text 3"/>
          <p:cNvSpPr/>
          <p:nvPr/>
        </p:nvSpPr>
        <p:spPr>
          <a:xfrm>
            <a:off x="768096" y="2743200"/>
            <a:ext cx="3566160" cy="475488"/>
          </a:xfrm>
          <a:prstGeom prst="rect">
            <a:avLst/>
          </a:prstGeom>
          <a:noFill/>
          <a:ln/>
        </p:spPr>
        <p:txBody>
          <a:bodyPr wrap="square" lIns="0" tIns="0" rIns="0" bIns="0" rtlCol="0" anchor="ctr">
            <a:normAutofit/>
          </a:bodyPr>
          <a:lstStyle/>
          <a:p>
            <a:pPr indent="0" marL="0">
              <a:buNone/>
            </a:pPr>
            <a:r>
              <a:rPr lang="en-US" sz="1600" dirty="0">
                <a:solidFill>
                  <a:srgbClr val="DFF3EC"/>
                </a:solidFill>
              </a:rPr>
              <a:t>Sistem de management clinic desktop</a:t>
            </a:r>
            <a:endParaRPr lang="en-US" sz="1600" dirty="0"/>
          </a:p>
        </p:txBody>
      </p:sp>
      <p:sp>
        <p:nvSpPr>
          <p:cNvPr id="7" name="Shape 4"/>
          <p:cNvSpPr/>
          <p:nvPr/>
        </p:nvSpPr>
        <p:spPr>
          <a:xfrm>
            <a:off x="749808" y="3657600"/>
            <a:ext cx="3337560" cy="347472"/>
          </a:xfrm>
          <a:prstGeom prst="roundRect">
            <a:avLst>
              <a:gd name="adj" fmla="val 21053"/>
            </a:avLst>
          </a:prstGeom>
          <a:solidFill>
            <a:srgbClr val="2F947B">
              <a:alpha val="92000"/>
            </a:srgbClr>
          </a:solidFill>
          <a:ln w="12700">
            <a:solidFill>
              <a:srgbClr val="2F947B"/>
            </a:solidFill>
            <a:prstDash val="solid"/>
          </a:ln>
        </p:spPr>
      </p:sp>
      <p:sp>
        <p:nvSpPr>
          <p:cNvPr id="8" name="Text 5"/>
          <p:cNvSpPr/>
          <p:nvPr/>
        </p:nvSpPr>
        <p:spPr>
          <a:xfrm>
            <a:off x="932688" y="3753612"/>
            <a:ext cx="2834640" cy="109728"/>
          </a:xfrm>
          <a:prstGeom prst="rect">
            <a:avLst/>
          </a:prstGeom>
          <a:noFill/>
          <a:ln/>
        </p:spPr>
        <p:txBody>
          <a:bodyPr wrap="square" lIns="0" tIns="0" rIns="0" bIns="0" rtlCol="0" anchor="ctr"/>
          <a:lstStyle/>
          <a:p>
            <a:pPr indent="0" marL="0">
              <a:buNone/>
            </a:pPr>
            <a:r>
              <a:rPr lang="en-US" sz="1000" b="1" dirty="0">
                <a:solidFill>
                  <a:srgbClr val="FFFFFF"/>
                </a:solidFill>
              </a:rPr>
              <a:t>Programări rapide</a:t>
            </a:r>
            <a:endParaRPr lang="en-US" sz="1000" dirty="0"/>
          </a:p>
        </p:txBody>
      </p:sp>
      <p:sp>
        <p:nvSpPr>
          <p:cNvPr id="9" name="Shape 6"/>
          <p:cNvSpPr/>
          <p:nvPr/>
        </p:nvSpPr>
        <p:spPr>
          <a:xfrm>
            <a:off x="749808" y="4187952"/>
            <a:ext cx="3337560" cy="347472"/>
          </a:xfrm>
          <a:prstGeom prst="roundRect">
            <a:avLst>
              <a:gd name="adj" fmla="val 21053"/>
            </a:avLst>
          </a:prstGeom>
          <a:solidFill>
            <a:srgbClr val="2F947B">
              <a:alpha val="92000"/>
            </a:srgbClr>
          </a:solidFill>
          <a:ln w="12700">
            <a:solidFill>
              <a:srgbClr val="2F947B"/>
            </a:solidFill>
            <a:prstDash val="solid"/>
          </a:ln>
        </p:spPr>
      </p:sp>
      <p:sp>
        <p:nvSpPr>
          <p:cNvPr id="10" name="Text 7"/>
          <p:cNvSpPr/>
          <p:nvPr/>
        </p:nvSpPr>
        <p:spPr>
          <a:xfrm>
            <a:off x="932688" y="4283964"/>
            <a:ext cx="2834640" cy="109728"/>
          </a:xfrm>
          <a:prstGeom prst="rect">
            <a:avLst/>
          </a:prstGeom>
          <a:noFill/>
          <a:ln/>
        </p:spPr>
        <p:txBody>
          <a:bodyPr wrap="square" lIns="0" tIns="0" rIns="0" bIns="0" rtlCol="0" anchor="ctr"/>
          <a:lstStyle/>
          <a:p>
            <a:pPr indent="0" marL="0">
              <a:buNone/>
            </a:pPr>
            <a:r>
              <a:rPr lang="en-US" sz="1000" b="1" dirty="0">
                <a:solidFill>
                  <a:srgbClr val="FFFFFF"/>
                </a:solidFill>
              </a:rPr>
              <a:t>Dosar medical digital</a:t>
            </a:r>
            <a:endParaRPr lang="en-US" sz="1000" dirty="0"/>
          </a:p>
        </p:txBody>
      </p:sp>
      <p:sp>
        <p:nvSpPr>
          <p:cNvPr id="11" name="Shape 8"/>
          <p:cNvSpPr/>
          <p:nvPr/>
        </p:nvSpPr>
        <p:spPr>
          <a:xfrm>
            <a:off x="749808" y="4718304"/>
            <a:ext cx="3337560" cy="347472"/>
          </a:xfrm>
          <a:prstGeom prst="roundRect">
            <a:avLst>
              <a:gd name="adj" fmla="val 21053"/>
            </a:avLst>
          </a:prstGeom>
          <a:solidFill>
            <a:srgbClr val="2F947B">
              <a:alpha val="92000"/>
            </a:srgbClr>
          </a:solidFill>
          <a:ln w="12700">
            <a:solidFill>
              <a:srgbClr val="2F947B"/>
            </a:solidFill>
            <a:prstDash val="solid"/>
          </a:ln>
        </p:spPr>
      </p:sp>
      <p:sp>
        <p:nvSpPr>
          <p:cNvPr id="12" name="Text 9"/>
          <p:cNvSpPr/>
          <p:nvPr/>
        </p:nvSpPr>
        <p:spPr>
          <a:xfrm>
            <a:off x="932688" y="4814316"/>
            <a:ext cx="2834640" cy="109728"/>
          </a:xfrm>
          <a:prstGeom prst="rect">
            <a:avLst/>
          </a:prstGeom>
          <a:noFill/>
          <a:ln/>
        </p:spPr>
        <p:txBody>
          <a:bodyPr wrap="square" lIns="0" tIns="0" rIns="0" bIns="0" rtlCol="0" anchor="ctr"/>
          <a:lstStyle/>
          <a:p>
            <a:pPr indent="0" marL="0">
              <a:buNone/>
            </a:pPr>
            <a:r>
              <a:rPr lang="en-US" sz="1000" b="1" dirty="0">
                <a:solidFill>
                  <a:srgbClr val="FFFFFF"/>
                </a:solidFill>
              </a:rPr>
              <a:t>Comunicare medic-pacient</a:t>
            </a:r>
            <a:endParaRPr lang="en-US" sz="1000" dirty="0"/>
          </a:p>
        </p:txBody>
      </p:sp>
      <p:sp>
        <p:nvSpPr>
          <p:cNvPr id="13" name="Text 10"/>
          <p:cNvSpPr/>
          <p:nvPr/>
        </p:nvSpPr>
        <p:spPr>
          <a:xfrm>
            <a:off x="5486400" y="1261872"/>
            <a:ext cx="1097280" cy="201168"/>
          </a:xfrm>
          <a:prstGeom prst="rect">
            <a:avLst/>
          </a:prstGeom>
          <a:noFill/>
          <a:ln/>
        </p:spPr>
        <p:txBody>
          <a:bodyPr wrap="square" lIns="0" tIns="0" rIns="0" bIns="0" rtlCol="0" anchor="ctr"/>
          <a:lstStyle/>
          <a:p>
            <a:pPr indent="0" marL="0">
              <a:buNone/>
            </a:pPr>
            <a:r>
              <a:rPr lang="en-US" sz="1100" b="1" dirty="0">
                <a:solidFill>
                  <a:srgbClr val="0F7B62"/>
                </a:solidFill>
              </a:rPr>
              <a:t>TEMA:</a:t>
            </a:r>
            <a:endParaRPr lang="en-US" sz="1100" dirty="0"/>
          </a:p>
        </p:txBody>
      </p:sp>
      <p:sp>
        <p:nvSpPr>
          <p:cNvPr id="14" name="Text 11"/>
          <p:cNvSpPr/>
          <p:nvPr/>
        </p:nvSpPr>
        <p:spPr>
          <a:xfrm>
            <a:off x="5486400" y="1572768"/>
            <a:ext cx="5715000" cy="1143000"/>
          </a:xfrm>
          <a:prstGeom prst="rect">
            <a:avLst/>
          </a:prstGeom>
          <a:noFill/>
          <a:ln/>
        </p:spPr>
        <p:txBody>
          <a:bodyPr wrap="square" lIns="0" tIns="0" rIns="0" bIns="0" rtlCol="0" anchor="ctr">
            <a:normAutofit/>
          </a:bodyPr>
          <a:lstStyle/>
          <a:p>
            <a:pPr indent="0" marL="0">
              <a:buNone/>
            </a:pPr>
            <a:r>
              <a:rPr lang="en-US" sz="2800" b="1" dirty="0">
                <a:solidFill>
                  <a:srgbClr val="071524"/>
                </a:solidFill>
              </a:rPr>
              <a:t>Dezvoltarea unei aplicații pentru managementul unei clinici medicale</a:t>
            </a:r>
            <a:endParaRPr lang="en-US" sz="2800" dirty="0"/>
          </a:p>
        </p:txBody>
      </p:sp>
      <p:sp>
        <p:nvSpPr>
          <p:cNvPr id="15" name="Shape 12"/>
          <p:cNvSpPr/>
          <p:nvPr/>
        </p:nvSpPr>
        <p:spPr>
          <a:xfrm>
            <a:off x="5504688" y="2999232"/>
            <a:ext cx="5257800" cy="0"/>
          </a:xfrm>
          <a:prstGeom prst="line">
            <a:avLst/>
          </a:prstGeom>
          <a:noFill/>
          <a:ln w="15240">
            <a:solidFill>
              <a:srgbClr val="D9E7E2"/>
            </a:solidFill>
            <a:prstDash val="solid"/>
          </a:ln>
        </p:spPr>
      </p:sp>
      <p:sp>
        <p:nvSpPr>
          <p:cNvPr id="16" name="Text 13"/>
          <p:cNvSpPr/>
          <p:nvPr/>
        </p:nvSpPr>
        <p:spPr>
          <a:xfrm>
            <a:off x="5504688" y="3401568"/>
            <a:ext cx="1143000" cy="146304"/>
          </a:xfrm>
          <a:prstGeom prst="rect">
            <a:avLst/>
          </a:prstGeom>
          <a:noFill/>
          <a:ln/>
        </p:spPr>
        <p:txBody>
          <a:bodyPr wrap="square" lIns="0" tIns="0" rIns="0" bIns="0" rtlCol="0" anchor="ctr"/>
          <a:lstStyle/>
          <a:p>
            <a:pPr indent="0" marL="0">
              <a:buNone/>
            </a:pPr>
            <a:r>
              <a:rPr lang="en-US" sz="950" b="1" dirty="0">
                <a:solidFill>
                  <a:srgbClr val="6B7C86"/>
                </a:solidFill>
              </a:rPr>
              <a:t>Elev</a:t>
            </a:r>
            <a:endParaRPr lang="en-US" sz="950" dirty="0"/>
          </a:p>
        </p:txBody>
      </p:sp>
      <p:sp>
        <p:nvSpPr>
          <p:cNvPr id="17" name="Text 14"/>
          <p:cNvSpPr/>
          <p:nvPr/>
        </p:nvSpPr>
        <p:spPr>
          <a:xfrm>
            <a:off x="6729984" y="3401568"/>
            <a:ext cx="2834640" cy="146304"/>
          </a:xfrm>
          <a:prstGeom prst="rect">
            <a:avLst/>
          </a:prstGeom>
          <a:noFill/>
          <a:ln/>
        </p:spPr>
        <p:txBody>
          <a:bodyPr wrap="square" lIns="0" tIns="0" rIns="0" bIns="0" rtlCol="0" anchor="ctr"/>
          <a:lstStyle/>
          <a:p>
            <a:pPr indent="0" marL="0">
              <a:buNone/>
            </a:pPr>
            <a:r>
              <a:rPr lang="en-US" sz="1050" dirty="0">
                <a:solidFill>
                  <a:srgbClr val="071524"/>
                </a:solidFill>
              </a:rPr>
              <a:t>Marius Chistrea</a:t>
            </a:r>
            <a:endParaRPr lang="en-US" sz="1050" dirty="0"/>
          </a:p>
        </p:txBody>
      </p:sp>
      <p:sp>
        <p:nvSpPr>
          <p:cNvPr id="18" name="Text 15"/>
          <p:cNvSpPr/>
          <p:nvPr/>
        </p:nvSpPr>
        <p:spPr>
          <a:xfrm>
            <a:off x="5504688" y="3785616"/>
            <a:ext cx="1143000" cy="146304"/>
          </a:xfrm>
          <a:prstGeom prst="rect">
            <a:avLst/>
          </a:prstGeom>
          <a:noFill/>
          <a:ln/>
        </p:spPr>
        <p:txBody>
          <a:bodyPr wrap="square" lIns="0" tIns="0" rIns="0" bIns="0" rtlCol="0" anchor="ctr"/>
          <a:lstStyle/>
          <a:p>
            <a:pPr indent="0" marL="0">
              <a:buNone/>
            </a:pPr>
            <a:r>
              <a:rPr lang="en-US" sz="950" b="1" dirty="0">
                <a:solidFill>
                  <a:srgbClr val="6B7C86"/>
                </a:solidFill>
              </a:rPr>
              <a:t>Grupa</a:t>
            </a:r>
            <a:endParaRPr lang="en-US" sz="950" dirty="0"/>
          </a:p>
        </p:txBody>
      </p:sp>
      <p:sp>
        <p:nvSpPr>
          <p:cNvPr id="19" name="Text 16"/>
          <p:cNvSpPr/>
          <p:nvPr/>
        </p:nvSpPr>
        <p:spPr>
          <a:xfrm>
            <a:off x="6729984" y="3785616"/>
            <a:ext cx="2834640" cy="146304"/>
          </a:xfrm>
          <a:prstGeom prst="rect">
            <a:avLst/>
          </a:prstGeom>
          <a:noFill/>
          <a:ln/>
        </p:spPr>
        <p:txBody>
          <a:bodyPr wrap="square" lIns="0" tIns="0" rIns="0" bIns="0" rtlCol="0" anchor="ctr"/>
          <a:lstStyle/>
          <a:p>
            <a:pPr indent="0" marL="0">
              <a:buNone/>
            </a:pPr>
            <a:r>
              <a:rPr lang="en-US" sz="1050" dirty="0">
                <a:solidFill>
                  <a:srgbClr val="071524"/>
                </a:solidFill>
              </a:rPr>
              <a:t>__________</a:t>
            </a:r>
            <a:endParaRPr lang="en-US" sz="1050" dirty="0"/>
          </a:p>
        </p:txBody>
      </p:sp>
      <p:sp>
        <p:nvSpPr>
          <p:cNvPr id="20" name="Text 17"/>
          <p:cNvSpPr/>
          <p:nvPr/>
        </p:nvSpPr>
        <p:spPr>
          <a:xfrm>
            <a:off x="5504688" y="4169664"/>
            <a:ext cx="1143000" cy="146304"/>
          </a:xfrm>
          <a:prstGeom prst="rect">
            <a:avLst/>
          </a:prstGeom>
          <a:noFill/>
          <a:ln/>
        </p:spPr>
        <p:txBody>
          <a:bodyPr wrap="square" lIns="0" tIns="0" rIns="0" bIns="0" rtlCol="0" anchor="ctr"/>
          <a:lstStyle/>
          <a:p>
            <a:pPr indent="0" marL="0">
              <a:buNone/>
            </a:pPr>
            <a:r>
              <a:rPr lang="en-US" sz="950" b="1" dirty="0">
                <a:solidFill>
                  <a:srgbClr val="6B7C86"/>
                </a:solidFill>
              </a:rPr>
              <a:t>Conducător</a:t>
            </a:r>
            <a:endParaRPr lang="en-US" sz="950" dirty="0"/>
          </a:p>
        </p:txBody>
      </p:sp>
      <p:sp>
        <p:nvSpPr>
          <p:cNvPr id="21" name="Text 18"/>
          <p:cNvSpPr/>
          <p:nvPr/>
        </p:nvSpPr>
        <p:spPr>
          <a:xfrm>
            <a:off x="6729984" y="4169664"/>
            <a:ext cx="2834640" cy="146304"/>
          </a:xfrm>
          <a:prstGeom prst="rect">
            <a:avLst/>
          </a:prstGeom>
          <a:noFill/>
          <a:ln/>
        </p:spPr>
        <p:txBody>
          <a:bodyPr wrap="square" lIns="0" tIns="0" rIns="0" bIns="0" rtlCol="0" anchor="ctr"/>
          <a:lstStyle/>
          <a:p>
            <a:pPr indent="0" marL="0">
              <a:buNone/>
            </a:pPr>
            <a:r>
              <a:rPr lang="en-US" sz="1050" dirty="0">
                <a:solidFill>
                  <a:srgbClr val="071524"/>
                </a:solidFill>
              </a:rPr>
              <a:t>Adina Pîntea</a:t>
            </a:r>
            <a:endParaRPr lang="en-US" sz="1050" dirty="0"/>
          </a:p>
        </p:txBody>
      </p:sp>
      <p:sp>
        <p:nvSpPr>
          <p:cNvPr id="22" name="Text 19"/>
          <p:cNvSpPr/>
          <p:nvPr/>
        </p:nvSpPr>
        <p:spPr>
          <a:xfrm>
            <a:off x="5504688" y="4553712"/>
            <a:ext cx="1143000" cy="146304"/>
          </a:xfrm>
          <a:prstGeom prst="rect">
            <a:avLst/>
          </a:prstGeom>
          <a:noFill/>
          <a:ln/>
        </p:spPr>
        <p:txBody>
          <a:bodyPr wrap="square" lIns="0" tIns="0" rIns="0" bIns="0" rtlCol="0" anchor="ctr"/>
          <a:lstStyle/>
          <a:p>
            <a:pPr indent="0" marL="0">
              <a:buNone/>
            </a:pPr>
            <a:r>
              <a:rPr lang="en-US" sz="950" b="1" dirty="0">
                <a:solidFill>
                  <a:srgbClr val="6B7C86"/>
                </a:solidFill>
              </a:rPr>
              <a:t>Anul</a:t>
            </a:r>
            <a:endParaRPr lang="en-US" sz="950" dirty="0"/>
          </a:p>
        </p:txBody>
      </p:sp>
      <p:sp>
        <p:nvSpPr>
          <p:cNvPr id="23" name="Text 20"/>
          <p:cNvSpPr/>
          <p:nvPr/>
        </p:nvSpPr>
        <p:spPr>
          <a:xfrm>
            <a:off x="6729984" y="4553712"/>
            <a:ext cx="2834640" cy="146304"/>
          </a:xfrm>
          <a:prstGeom prst="rect">
            <a:avLst/>
          </a:prstGeom>
          <a:noFill/>
          <a:ln/>
        </p:spPr>
        <p:txBody>
          <a:bodyPr wrap="square" lIns="0" tIns="0" rIns="0" bIns="0" rtlCol="0" anchor="ctr"/>
          <a:lstStyle/>
          <a:p>
            <a:pPr indent="0" marL="0">
              <a:buNone/>
            </a:pPr>
            <a:r>
              <a:rPr lang="en-US" sz="1050" dirty="0">
                <a:solidFill>
                  <a:srgbClr val="071524"/>
                </a:solidFill>
              </a:rPr>
              <a:t>2026</a:t>
            </a:r>
            <a:endParaRPr lang="en-US" sz="1050" dirty="0"/>
          </a:p>
        </p:txBody>
      </p:sp>
      <p:sp>
        <p:nvSpPr>
          <p:cNvPr id="24" name="Shape 21"/>
          <p:cNvSpPr/>
          <p:nvPr/>
        </p:nvSpPr>
        <p:spPr>
          <a:xfrm>
            <a:off x="5504688" y="5394960"/>
            <a:ext cx="1737360" cy="310896"/>
          </a:xfrm>
          <a:prstGeom prst="roundRect">
            <a:avLst>
              <a:gd name="adj" fmla="val 23529"/>
            </a:avLst>
          </a:prstGeom>
          <a:solidFill>
            <a:srgbClr val="DFF3EC"/>
          </a:solidFill>
          <a:ln w="12700">
            <a:solidFill>
              <a:srgbClr val="DFF3EC">
                <a:alpha val="0"/>
              </a:srgbClr>
            </a:solidFill>
            <a:prstDash val="solid"/>
          </a:ln>
        </p:spPr>
      </p:sp>
      <p:sp>
        <p:nvSpPr>
          <p:cNvPr id="25" name="Text 22"/>
          <p:cNvSpPr/>
          <p:nvPr/>
        </p:nvSpPr>
        <p:spPr>
          <a:xfrm>
            <a:off x="5614416" y="5472684"/>
            <a:ext cx="1517904" cy="109728"/>
          </a:xfrm>
          <a:prstGeom prst="rect">
            <a:avLst/>
          </a:prstGeom>
          <a:noFill/>
          <a:ln/>
        </p:spPr>
        <p:txBody>
          <a:bodyPr wrap="square" lIns="0" tIns="0" rIns="0" bIns="0" rtlCol="0" anchor="ctr"/>
          <a:lstStyle/>
          <a:p>
            <a:pPr algn="ctr" indent="0" marL="0">
              <a:buNone/>
            </a:pPr>
            <a:r>
              <a:rPr lang="en-US" sz="850" b="1" dirty="0">
                <a:solidFill>
                  <a:srgbClr val="0F7B62"/>
                </a:solidFill>
              </a:rPr>
              <a:t>Doctor: Sandu Super</a:t>
            </a:r>
            <a:endParaRPr lang="en-US" sz="850" dirty="0"/>
          </a:p>
        </p:txBody>
      </p:sp>
      <p:sp>
        <p:nvSpPr>
          <p:cNvPr id="26" name="Shape 23"/>
          <p:cNvSpPr/>
          <p:nvPr/>
        </p:nvSpPr>
        <p:spPr>
          <a:xfrm>
            <a:off x="7406640" y="5394960"/>
            <a:ext cx="2057400" cy="310896"/>
          </a:xfrm>
          <a:prstGeom prst="roundRect">
            <a:avLst>
              <a:gd name="adj" fmla="val 23529"/>
            </a:avLst>
          </a:prstGeom>
          <a:solidFill>
            <a:srgbClr val="EAF2FF"/>
          </a:solidFill>
          <a:ln w="12700">
            <a:solidFill>
              <a:srgbClr val="EAF2FF">
                <a:alpha val="0"/>
              </a:srgbClr>
            </a:solidFill>
            <a:prstDash val="solid"/>
          </a:ln>
        </p:spPr>
      </p:sp>
      <p:sp>
        <p:nvSpPr>
          <p:cNvPr id="27" name="Text 24"/>
          <p:cNvSpPr/>
          <p:nvPr/>
        </p:nvSpPr>
        <p:spPr>
          <a:xfrm>
            <a:off x="7516368" y="5472684"/>
            <a:ext cx="1837944" cy="109728"/>
          </a:xfrm>
          <a:prstGeom prst="rect">
            <a:avLst/>
          </a:prstGeom>
          <a:noFill/>
          <a:ln/>
        </p:spPr>
        <p:txBody>
          <a:bodyPr wrap="square" lIns="0" tIns="0" rIns="0" bIns="0" rtlCol="0" anchor="ctr"/>
          <a:lstStyle/>
          <a:p>
            <a:pPr algn="ctr" indent="0" marL="0">
              <a:buNone/>
            </a:pPr>
            <a:r>
              <a:rPr lang="en-US" sz="850" b="1" dirty="0">
                <a:solidFill>
                  <a:srgbClr val="2F80ED"/>
                </a:solidFill>
              </a:rPr>
              <a:t>Pacient: Marius Chistrea</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INTRODUCERE</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Tema și motivația alegerii</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02</a:t>
            </a:r>
            <a:endParaRPr lang="en-US" sz="650" dirty="0"/>
          </a:p>
        </p:txBody>
      </p:sp>
      <p:sp>
        <p:nvSpPr>
          <p:cNvPr id="7" name="Text 4"/>
          <p:cNvSpPr/>
          <p:nvPr/>
        </p:nvSpPr>
        <p:spPr>
          <a:xfrm>
            <a:off x="594360" y="1298448"/>
            <a:ext cx="5257800" cy="841248"/>
          </a:xfrm>
          <a:prstGeom prst="rect">
            <a:avLst/>
          </a:prstGeom>
          <a:noFill/>
          <a:ln/>
        </p:spPr>
        <p:txBody>
          <a:bodyPr wrap="square" lIns="762" tIns="762" rIns="762" bIns="762" rtlCol="0" anchor="ctr">
            <a:normAutofit/>
          </a:bodyPr>
          <a:lstStyle/>
          <a:p>
            <a:pPr indent="0" marL="0">
              <a:buNone/>
            </a:pPr>
            <a:r>
              <a:rPr lang="en-US" sz="1600" b="1" dirty="0">
                <a:solidFill>
                  <a:srgbClr val="071524"/>
                </a:solidFill>
                <a:latin typeface="Aptos" pitchFamily="34" charset="0"/>
                <a:ea typeface="Aptos" pitchFamily="34" charset="-122"/>
                <a:cs typeface="Aptos" pitchFamily="34" charset="-120"/>
              </a:rPr>
              <a:t>În multe cabinete mici, informațiile sunt împărțite între agende, fișiere, mesaje și documente separate. MediClin propune un flux unic pentru pacient și medic.</a:t>
            </a:r>
            <a:endParaRPr lang="en-US" sz="1600" dirty="0"/>
          </a:p>
        </p:txBody>
      </p:sp>
      <p:sp>
        <p:nvSpPr>
          <p:cNvPr id="8" name="Shape 5"/>
          <p:cNvSpPr/>
          <p:nvPr/>
        </p:nvSpPr>
        <p:spPr>
          <a:xfrm>
            <a:off x="621792" y="2487168"/>
            <a:ext cx="5166360" cy="960120"/>
          </a:xfrm>
          <a:prstGeom prst="roundRect">
            <a:avLst>
              <a:gd name="adj" fmla="val 7619"/>
            </a:avLst>
          </a:prstGeom>
          <a:solidFill>
            <a:srgbClr val="FFFFFF"/>
          </a:solidFill>
          <a:ln w="12700">
            <a:solidFill>
              <a:srgbClr val="D9E7E2"/>
            </a:solidFill>
            <a:prstDash val="solid"/>
          </a:ln>
        </p:spPr>
      </p:sp>
      <p:sp>
        <p:nvSpPr>
          <p:cNvPr id="9" name="Text 6"/>
          <p:cNvSpPr/>
          <p:nvPr/>
        </p:nvSpPr>
        <p:spPr>
          <a:xfrm>
            <a:off x="877824" y="2651760"/>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Fragmentare</a:t>
            </a:r>
            <a:endParaRPr lang="en-US" sz="1300" dirty="0"/>
          </a:p>
        </p:txBody>
      </p:sp>
      <p:sp>
        <p:nvSpPr>
          <p:cNvPr id="10" name="Text 7"/>
          <p:cNvSpPr/>
          <p:nvPr/>
        </p:nvSpPr>
        <p:spPr>
          <a:xfrm>
            <a:off x="877824" y="2926080"/>
            <a:ext cx="4617720" cy="310896"/>
          </a:xfrm>
          <a:prstGeom prst="rect">
            <a:avLst/>
          </a:prstGeom>
          <a:noFill/>
          <a:ln/>
        </p:spPr>
        <p:txBody>
          <a:bodyPr wrap="square" lIns="762" tIns="762" rIns="762" bIns="762" rtlCol="0" anchor="ctr">
            <a:normAutofit/>
          </a:bodyPr>
          <a:lstStyle/>
          <a:p>
            <a:pPr indent="0" marL="0">
              <a:buNone/>
            </a:pPr>
            <a:r>
              <a:rPr lang="en-US" sz="1150" dirty="0">
                <a:solidFill>
                  <a:srgbClr val="6B7C86"/>
                </a:solidFill>
                <a:latin typeface="Aptos" pitchFamily="34" charset="0"/>
                <a:ea typeface="Aptos" pitchFamily="34" charset="-122"/>
                <a:cs typeface="Aptos" pitchFamily="34" charset="-120"/>
              </a:rPr>
              <a:t>Programări, rezultate, rețete și mesaje în locuri diferite.</a:t>
            </a:r>
            <a:endParaRPr lang="en-US" sz="1150" dirty="0"/>
          </a:p>
        </p:txBody>
      </p:sp>
      <p:sp>
        <p:nvSpPr>
          <p:cNvPr id="11" name="Shape 8"/>
          <p:cNvSpPr/>
          <p:nvPr/>
        </p:nvSpPr>
        <p:spPr>
          <a:xfrm>
            <a:off x="6199632" y="2487168"/>
            <a:ext cx="5166360" cy="960120"/>
          </a:xfrm>
          <a:prstGeom prst="roundRect">
            <a:avLst>
              <a:gd name="adj" fmla="val 7619"/>
            </a:avLst>
          </a:prstGeom>
          <a:solidFill>
            <a:srgbClr val="FFFFFF"/>
          </a:solidFill>
          <a:ln w="12700">
            <a:solidFill>
              <a:srgbClr val="D9E7E2"/>
            </a:solidFill>
            <a:prstDash val="solid"/>
          </a:ln>
        </p:spPr>
      </p:sp>
      <p:sp>
        <p:nvSpPr>
          <p:cNvPr id="12" name="Text 9"/>
          <p:cNvSpPr/>
          <p:nvPr/>
        </p:nvSpPr>
        <p:spPr>
          <a:xfrm>
            <a:off x="6455664" y="2651760"/>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Timp pierdut</a:t>
            </a:r>
            <a:endParaRPr lang="en-US" sz="1300" dirty="0"/>
          </a:p>
        </p:txBody>
      </p:sp>
      <p:sp>
        <p:nvSpPr>
          <p:cNvPr id="13" name="Text 10"/>
          <p:cNvSpPr/>
          <p:nvPr/>
        </p:nvSpPr>
        <p:spPr>
          <a:xfrm>
            <a:off x="6455664" y="2926080"/>
            <a:ext cx="4617720" cy="310896"/>
          </a:xfrm>
          <a:prstGeom prst="rect">
            <a:avLst/>
          </a:prstGeom>
          <a:noFill/>
          <a:ln/>
        </p:spPr>
        <p:txBody>
          <a:bodyPr wrap="square" lIns="762" tIns="762" rIns="762" bIns="762" rtlCol="0" anchor="ctr">
            <a:normAutofit/>
          </a:bodyPr>
          <a:lstStyle/>
          <a:p>
            <a:pPr indent="0" marL="0">
              <a:buNone/>
            </a:pPr>
            <a:r>
              <a:rPr lang="en-US" sz="1150" dirty="0">
                <a:solidFill>
                  <a:srgbClr val="6B7C86"/>
                </a:solidFill>
                <a:latin typeface="Aptos" pitchFamily="34" charset="0"/>
                <a:ea typeface="Aptos" pitchFamily="34" charset="-122"/>
                <a:cs typeface="Aptos" pitchFamily="34" charset="-120"/>
              </a:rPr>
              <a:t>Medicul caută datele pacientului în loc să se concentreze pe consultație.</a:t>
            </a:r>
            <a:endParaRPr lang="en-US" sz="1150" dirty="0"/>
          </a:p>
        </p:txBody>
      </p:sp>
      <p:sp>
        <p:nvSpPr>
          <p:cNvPr id="14" name="Shape 11"/>
          <p:cNvSpPr/>
          <p:nvPr/>
        </p:nvSpPr>
        <p:spPr>
          <a:xfrm>
            <a:off x="621792" y="3813048"/>
            <a:ext cx="5166360" cy="960120"/>
          </a:xfrm>
          <a:prstGeom prst="roundRect">
            <a:avLst>
              <a:gd name="adj" fmla="val 7619"/>
            </a:avLst>
          </a:prstGeom>
          <a:solidFill>
            <a:srgbClr val="FFFFFF"/>
          </a:solidFill>
          <a:ln w="12700">
            <a:solidFill>
              <a:srgbClr val="D9E7E2"/>
            </a:solidFill>
            <a:prstDash val="solid"/>
          </a:ln>
        </p:spPr>
      </p:sp>
      <p:sp>
        <p:nvSpPr>
          <p:cNvPr id="15" name="Text 12"/>
          <p:cNvSpPr/>
          <p:nvPr/>
        </p:nvSpPr>
        <p:spPr>
          <a:xfrm>
            <a:off x="877824" y="3977640"/>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Trasabilitate</a:t>
            </a:r>
            <a:endParaRPr lang="en-US" sz="1300" dirty="0"/>
          </a:p>
        </p:txBody>
      </p:sp>
      <p:sp>
        <p:nvSpPr>
          <p:cNvPr id="16" name="Text 13"/>
          <p:cNvSpPr/>
          <p:nvPr/>
        </p:nvSpPr>
        <p:spPr>
          <a:xfrm>
            <a:off x="877824" y="4251960"/>
            <a:ext cx="4617720" cy="310896"/>
          </a:xfrm>
          <a:prstGeom prst="rect">
            <a:avLst/>
          </a:prstGeom>
          <a:noFill/>
          <a:ln/>
        </p:spPr>
        <p:txBody>
          <a:bodyPr wrap="square" lIns="762" tIns="762" rIns="762" bIns="762" rtlCol="0" anchor="ctr">
            <a:normAutofit/>
          </a:bodyPr>
          <a:lstStyle/>
          <a:p>
            <a:pPr indent="0" marL="0">
              <a:buNone/>
            </a:pPr>
            <a:r>
              <a:rPr lang="en-US" sz="1150" dirty="0">
                <a:solidFill>
                  <a:srgbClr val="6B7C86"/>
                </a:solidFill>
                <a:latin typeface="Aptos" pitchFamily="34" charset="0"/>
                <a:ea typeface="Aptos" pitchFamily="34" charset="-122"/>
                <a:cs typeface="Aptos" pitchFamily="34" charset="-120"/>
              </a:rPr>
              <a:t>Acțiunile importante trebuie urmărite prin notificări și jurnal.</a:t>
            </a:r>
            <a:endParaRPr lang="en-US" sz="1150" dirty="0"/>
          </a:p>
        </p:txBody>
      </p:sp>
      <p:sp>
        <p:nvSpPr>
          <p:cNvPr id="17" name="Shape 14"/>
          <p:cNvSpPr/>
          <p:nvPr/>
        </p:nvSpPr>
        <p:spPr>
          <a:xfrm>
            <a:off x="6199632" y="3813048"/>
            <a:ext cx="5166360" cy="960120"/>
          </a:xfrm>
          <a:prstGeom prst="roundRect">
            <a:avLst>
              <a:gd name="adj" fmla="val 7619"/>
            </a:avLst>
          </a:prstGeom>
          <a:solidFill>
            <a:srgbClr val="FFFFFF"/>
          </a:solidFill>
          <a:ln w="12700">
            <a:solidFill>
              <a:srgbClr val="D9E7E2"/>
            </a:solidFill>
            <a:prstDash val="solid"/>
          </a:ln>
        </p:spPr>
      </p:sp>
      <p:sp>
        <p:nvSpPr>
          <p:cNvPr id="18" name="Text 15"/>
          <p:cNvSpPr/>
          <p:nvPr/>
        </p:nvSpPr>
        <p:spPr>
          <a:xfrm>
            <a:off x="6455664" y="3977640"/>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Experiență</a:t>
            </a:r>
            <a:endParaRPr lang="en-US" sz="1300" dirty="0"/>
          </a:p>
        </p:txBody>
      </p:sp>
      <p:sp>
        <p:nvSpPr>
          <p:cNvPr id="19" name="Text 16"/>
          <p:cNvSpPr/>
          <p:nvPr/>
        </p:nvSpPr>
        <p:spPr>
          <a:xfrm>
            <a:off x="6455664" y="4251960"/>
            <a:ext cx="4617720" cy="310896"/>
          </a:xfrm>
          <a:prstGeom prst="rect">
            <a:avLst/>
          </a:prstGeom>
          <a:noFill/>
          <a:ln/>
        </p:spPr>
        <p:txBody>
          <a:bodyPr wrap="square" lIns="762" tIns="762" rIns="762" bIns="762" rtlCol="0" anchor="ctr">
            <a:normAutofit/>
          </a:bodyPr>
          <a:lstStyle/>
          <a:p>
            <a:pPr indent="0" marL="0">
              <a:buNone/>
            </a:pPr>
            <a:r>
              <a:rPr lang="en-US" sz="1150" dirty="0">
                <a:solidFill>
                  <a:srgbClr val="6B7C86"/>
                </a:solidFill>
                <a:latin typeface="Aptos" pitchFamily="34" charset="0"/>
                <a:ea typeface="Aptos" pitchFamily="34" charset="-122"/>
                <a:cs typeface="Aptos" pitchFamily="34" charset="-120"/>
              </a:rPr>
              <a:t>Pacientul are nevoie de acces clar la programări, tratamente și analize.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ANALIZĂ COMPARATIVĂ</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Sisteme similare comparate</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03</a:t>
            </a:r>
            <a:endParaRPr lang="en-US" sz="650" dirty="0"/>
          </a:p>
        </p:txBody>
      </p:sp>
      <p:sp>
        <p:nvSpPr>
          <p:cNvPr id="7" name="Shape 4"/>
          <p:cNvSpPr/>
          <p:nvPr/>
        </p:nvSpPr>
        <p:spPr>
          <a:xfrm>
            <a:off x="566928" y="1417320"/>
            <a:ext cx="11018520" cy="4315968"/>
          </a:xfrm>
          <a:prstGeom prst="roundRect">
            <a:avLst>
              <a:gd name="adj" fmla="val 1695"/>
            </a:avLst>
          </a:prstGeom>
          <a:solidFill>
            <a:srgbClr val="FFFFFF"/>
          </a:solidFill>
          <a:ln w="12700">
            <a:solidFill>
              <a:srgbClr val="D9E7E2"/>
            </a:solidFill>
            <a:prstDash val="solid"/>
          </a:ln>
        </p:spPr>
      </p:sp>
      <p:sp>
        <p:nvSpPr>
          <p:cNvPr id="8" name="Text 5"/>
          <p:cNvSpPr/>
          <p:nvPr/>
        </p:nvSpPr>
        <p:spPr>
          <a:xfrm>
            <a:off x="749808" y="1673352"/>
            <a:ext cx="1828800" cy="182880"/>
          </a:xfrm>
          <a:prstGeom prst="rect">
            <a:avLst/>
          </a:prstGeom>
          <a:noFill/>
          <a:ln/>
        </p:spPr>
        <p:txBody>
          <a:bodyPr wrap="square" lIns="0" tIns="0" rIns="0" bIns="0" rtlCol="0" anchor="ctr"/>
          <a:lstStyle/>
          <a:p>
            <a:pPr indent="0" marL="0">
              <a:buNone/>
            </a:pPr>
            <a:r>
              <a:rPr lang="en-US" sz="1050" b="1" dirty="0">
                <a:solidFill>
                  <a:srgbClr val="0F7B62"/>
                </a:solidFill>
              </a:rPr>
              <a:t>Sistem</a:t>
            </a:r>
            <a:endParaRPr lang="en-US" sz="1050" dirty="0"/>
          </a:p>
        </p:txBody>
      </p:sp>
      <p:sp>
        <p:nvSpPr>
          <p:cNvPr id="9" name="Text 6"/>
          <p:cNvSpPr/>
          <p:nvPr/>
        </p:nvSpPr>
        <p:spPr>
          <a:xfrm>
            <a:off x="2578608" y="1673352"/>
            <a:ext cx="2606040" cy="182880"/>
          </a:xfrm>
          <a:prstGeom prst="rect">
            <a:avLst/>
          </a:prstGeom>
          <a:noFill/>
          <a:ln/>
        </p:spPr>
        <p:txBody>
          <a:bodyPr wrap="square" lIns="0" tIns="0" rIns="0" bIns="0" rtlCol="0" anchor="ctr"/>
          <a:lstStyle/>
          <a:p>
            <a:pPr indent="0" marL="0">
              <a:buNone/>
            </a:pPr>
            <a:r>
              <a:rPr lang="en-US" sz="1050" b="1" dirty="0">
                <a:solidFill>
                  <a:srgbClr val="0F7B62"/>
                </a:solidFill>
              </a:rPr>
              <a:t>Punct forte</a:t>
            </a:r>
            <a:endParaRPr lang="en-US" sz="1050" dirty="0"/>
          </a:p>
        </p:txBody>
      </p:sp>
      <p:sp>
        <p:nvSpPr>
          <p:cNvPr id="10" name="Text 7"/>
          <p:cNvSpPr/>
          <p:nvPr/>
        </p:nvSpPr>
        <p:spPr>
          <a:xfrm>
            <a:off x="5184648" y="1673352"/>
            <a:ext cx="2971800" cy="182880"/>
          </a:xfrm>
          <a:prstGeom prst="rect">
            <a:avLst/>
          </a:prstGeom>
          <a:noFill/>
          <a:ln/>
        </p:spPr>
        <p:txBody>
          <a:bodyPr wrap="square" lIns="0" tIns="0" rIns="0" bIns="0" rtlCol="0" anchor="ctr"/>
          <a:lstStyle/>
          <a:p>
            <a:pPr indent="0" marL="0">
              <a:buNone/>
            </a:pPr>
            <a:r>
              <a:rPr lang="en-US" sz="1050" b="1" dirty="0">
                <a:solidFill>
                  <a:srgbClr val="0F7B62"/>
                </a:solidFill>
              </a:rPr>
              <a:t>Limitare observată</a:t>
            </a:r>
            <a:endParaRPr lang="en-US" sz="1050" dirty="0"/>
          </a:p>
        </p:txBody>
      </p:sp>
      <p:sp>
        <p:nvSpPr>
          <p:cNvPr id="11" name="Text 8"/>
          <p:cNvSpPr/>
          <p:nvPr/>
        </p:nvSpPr>
        <p:spPr>
          <a:xfrm>
            <a:off x="8156448" y="1673352"/>
            <a:ext cx="3246120" cy="182880"/>
          </a:xfrm>
          <a:prstGeom prst="rect">
            <a:avLst/>
          </a:prstGeom>
          <a:noFill/>
          <a:ln/>
        </p:spPr>
        <p:txBody>
          <a:bodyPr wrap="square" lIns="0" tIns="0" rIns="0" bIns="0" rtlCol="0" anchor="ctr"/>
          <a:lstStyle/>
          <a:p>
            <a:pPr indent="0" marL="0">
              <a:buNone/>
            </a:pPr>
            <a:r>
              <a:rPr lang="en-US" sz="1050" b="1" dirty="0">
                <a:solidFill>
                  <a:srgbClr val="0F7B62"/>
                </a:solidFill>
              </a:rPr>
              <a:t>Ce preia MediClin</a:t>
            </a:r>
            <a:endParaRPr lang="en-US" sz="1050" dirty="0"/>
          </a:p>
        </p:txBody>
      </p:sp>
      <p:sp>
        <p:nvSpPr>
          <p:cNvPr id="12" name="Shape 9"/>
          <p:cNvSpPr/>
          <p:nvPr/>
        </p:nvSpPr>
        <p:spPr>
          <a:xfrm>
            <a:off x="731520" y="2002536"/>
            <a:ext cx="10689336" cy="0"/>
          </a:xfrm>
          <a:prstGeom prst="line">
            <a:avLst/>
          </a:prstGeom>
          <a:noFill/>
          <a:ln w="8890">
            <a:solidFill>
              <a:srgbClr val="D9E7E2"/>
            </a:solidFill>
            <a:prstDash val="solid"/>
          </a:ln>
        </p:spPr>
      </p:sp>
      <p:sp>
        <p:nvSpPr>
          <p:cNvPr id="13" name="Text 10"/>
          <p:cNvSpPr/>
          <p:nvPr/>
        </p:nvSpPr>
        <p:spPr>
          <a:xfrm>
            <a:off x="749808" y="2167128"/>
            <a:ext cx="1691640" cy="256032"/>
          </a:xfrm>
          <a:prstGeom prst="rect">
            <a:avLst/>
          </a:prstGeom>
          <a:noFill/>
          <a:ln/>
        </p:spPr>
        <p:txBody>
          <a:bodyPr wrap="square" lIns="0" tIns="0" rIns="0" bIns="0" rtlCol="0" anchor="ctr">
            <a:normAutofit/>
          </a:bodyPr>
          <a:lstStyle/>
          <a:p>
            <a:pPr indent="0" marL="0">
              <a:buNone/>
            </a:pPr>
            <a:r>
              <a:rPr lang="en-US" sz="1100" b="1" dirty="0">
                <a:solidFill>
                  <a:srgbClr val="071524"/>
                </a:solidFill>
              </a:rPr>
              <a:t>DrChrono</a:t>
            </a:r>
            <a:endParaRPr lang="en-US" sz="1100" dirty="0"/>
          </a:p>
        </p:txBody>
      </p:sp>
      <p:sp>
        <p:nvSpPr>
          <p:cNvPr id="14" name="Text 11"/>
          <p:cNvSpPr/>
          <p:nvPr/>
        </p:nvSpPr>
        <p:spPr>
          <a:xfrm>
            <a:off x="2578608" y="2167128"/>
            <a:ext cx="246888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EMR + programări</a:t>
            </a:r>
            <a:endParaRPr lang="en-US" sz="980" dirty="0"/>
          </a:p>
        </p:txBody>
      </p:sp>
      <p:sp>
        <p:nvSpPr>
          <p:cNvPr id="15" name="Text 12"/>
          <p:cNvSpPr/>
          <p:nvPr/>
        </p:nvSpPr>
        <p:spPr>
          <a:xfrm>
            <a:off x="5184648" y="2167128"/>
            <a:ext cx="283464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Complex pentru clinici mici</a:t>
            </a:r>
            <a:endParaRPr lang="en-US" sz="980" dirty="0"/>
          </a:p>
        </p:txBody>
      </p:sp>
      <p:sp>
        <p:nvSpPr>
          <p:cNvPr id="16" name="Text 13"/>
          <p:cNvSpPr/>
          <p:nvPr/>
        </p:nvSpPr>
        <p:spPr>
          <a:xfrm>
            <a:off x="8156448" y="2167128"/>
            <a:ext cx="310896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Dosar medical + programări</a:t>
            </a:r>
            <a:endParaRPr lang="en-US" sz="980" dirty="0"/>
          </a:p>
        </p:txBody>
      </p:sp>
      <p:sp>
        <p:nvSpPr>
          <p:cNvPr id="17" name="Shape 14"/>
          <p:cNvSpPr/>
          <p:nvPr/>
        </p:nvSpPr>
        <p:spPr>
          <a:xfrm>
            <a:off x="731520" y="2752344"/>
            <a:ext cx="10689336" cy="0"/>
          </a:xfrm>
          <a:prstGeom prst="line">
            <a:avLst/>
          </a:prstGeom>
          <a:noFill/>
          <a:ln w="8890">
            <a:solidFill>
              <a:srgbClr val="D9E7E2"/>
            </a:solidFill>
            <a:prstDash val="solid"/>
          </a:ln>
        </p:spPr>
      </p:sp>
      <p:sp>
        <p:nvSpPr>
          <p:cNvPr id="18" name="Text 15"/>
          <p:cNvSpPr/>
          <p:nvPr/>
        </p:nvSpPr>
        <p:spPr>
          <a:xfrm>
            <a:off x="749808" y="2916936"/>
            <a:ext cx="1691640" cy="256032"/>
          </a:xfrm>
          <a:prstGeom prst="rect">
            <a:avLst/>
          </a:prstGeom>
          <a:noFill/>
          <a:ln/>
        </p:spPr>
        <p:txBody>
          <a:bodyPr wrap="square" lIns="0" tIns="0" rIns="0" bIns="0" rtlCol="0" anchor="ctr">
            <a:normAutofit/>
          </a:bodyPr>
          <a:lstStyle/>
          <a:p>
            <a:pPr indent="0" marL="0">
              <a:buNone/>
            </a:pPr>
            <a:r>
              <a:rPr lang="en-US" sz="1100" b="1" dirty="0">
                <a:solidFill>
                  <a:srgbClr val="071524"/>
                </a:solidFill>
              </a:rPr>
              <a:t>Cliniko</a:t>
            </a:r>
            <a:endParaRPr lang="en-US" sz="1100" dirty="0"/>
          </a:p>
        </p:txBody>
      </p:sp>
      <p:sp>
        <p:nvSpPr>
          <p:cNvPr id="19" name="Text 16"/>
          <p:cNvSpPr/>
          <p:nvPr/>
        </p:nvSpPr>
        <p:spPr>
          <a:xfrm>
            <a:off x="2578608" y="2916936"/>
            <a:ext cx="246888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Booking și pacienți</a:t>
            </a:r>
            <a:endParaRPr lang="en-US" sz="980" dirty="0"/>
          </a:p>
        </p:txBody>
      </p:sp>
      <p:sp>
        <p:nvSpPr>
          <p:cNvPr id="20" name="Text 17"/>
          <p:cNvSpPr/>
          <p:nvPr/>
        </p:nvSpPr>
        <p:spPr>
          <a:xfrm>
            <a:off x="5184648" y="2916936"/>
            <a:ext cx="283464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Mai puțin orientat pe flux local desktop</a:t>
            </a:r>
            <a:endParaRPr lang="en-US" sz="980" dirty="0"/>
          </a:p>
        </p:txBody>
      </p:sp>
      <p:sp>
        <p:nvSpPr>
          <p:cNvPr id="21" name="Text 18"/>
          <p:cNvSpPr/>
          <p:nvPr/>
        </p:nvSpPr>
        <p:spPr>
          <a:xfrm>
            <a:off x="8156448" y="2916936"/>
            <a:ext cx="310896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Flux simplu pacient-medic</a:t>
            </a:r>
            <a:endParaRPr lang="en-US" sz="980" dirty="0"/>
          </a:p>
        </p:txBody>
      </p:sp>
      <p:sp>
        <p:nvSpPr>
          <p:cNvPr id="22" name="Shape 19"/>
          <p:cNvSpPr/>
          <p:nvPr/>
        </p:nvSpPr>
        <p:spPr>
          <a:xfrm>
            <a:off x="731520" y="3502152"/>
            <a:ext cx="10689336" cy="0"/>
          </a:xfrm>
          <a:prstGeom prst="line">
            <a:avLst/>
          </a:prstGeom>
          <a:noFill/>
          <a:ln w="8890">
            <a:solidFill>
              <a:srgbClr val="D9E7E2"/>
            </a:solidFill>
            <a:prstDash val="solid"/>
          </a:ln>
        </p:spPr>
      </p:sp>
      <p:sp>
        <p:nvSpPr>
          <p:cNvPr id="23" name="Text 20"/>
          <p:cNvSpPr/>
          <p:nvPr/>
        </p:nvSpPr>
        <p:spPr>
          <a:xfrm>
            <a:off x="749808" y="3666744"/>
            <a:ext cx="1691640" cy="256032"/>
          </a:xfrm>
          <a:prstGeom prst="rect">
            <a:avLst/>
          </a:prstGeom>
          <a:noFill/>
          <a:ln/>
        </p:spPr>
        <p:txBody>
          <a:bodyPr wrap="square" lIns="0" tIns="0" rIns="0" bIns="0" rtlCol="0" anchor="ctr">
            <a:normAutofit/>
          </a:bodyPr>
          <a:lstStyle/>
          <a:p>
            <a:pPr indent="0" marL="0">
              <a:buNone/>
            </a:pPr>
            <a:r>
              <a:rPr lang="en-US" sz="1100" b="1" dirty="0">
                <a:solidFill>
                  <a:srgbClr val="071524"/>
                </a:solidFill>
              </a:rPr>
              <a:t>SimplePractice</a:t>
            </a:r>
            <a:endParaRPr lang="en-US" sz="1100" dirty="0"/>
          </a:p>
        </p:txBody>
      </p:sp>
      <p:sp>
        <p:nvSpPr>
          <p:cNvPr id="24" name="Text 21"/>
          <p:cNvSpPr/>
          <p:nvPr/>
        </p:nvSpPr>
        <p:spPr>
          <a:xfrm>
            <a:off x="2578608" y="3666744"/>
            <a:ext cx="246888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Cabinet + comunicare</a:t>
            </a:r>
            <a:endParaRPr lang="en-US" sz="980" dirty="0"/>
          </a:p>
        </p:txBody>
      </p:sp>
      <p:sp>
        <p:nvSpPr>
          <p:cNvPr id="25" name="Text 22"/>
          <p:cNvSpPr/>
          <p:nvPr/>
        </p:nvSpPr>
        <p:spPr>
          <a:xfrm>
            <a:off x="5184648" y="3666744"/>
            <a:ext cx="283464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Accent pe piața SUA</a:t>
            </a:r>
            <a:endParaRPr lang="en-US" sz="980" dirty="0"/>
          </a:p>
        </p:txBody>
      </p:sp>
      <p:sp>
        <p:nvSpPr>
          <p:cNvPr id="26" name="Text 23"/>
          <p:cNvSpPr/>
          <p:nvPr/>
        </p:nvSpPr>
        <p:spPr>
          <a:xfrm>
            <a:off x="8156448" y="3666744"/>
            <a:ext cx="310896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Mesaje și notificări</a:t>
            </a:r>
            <a:endParaRPr lang="en-US" sz="980" dirty="0"/>
          </a:p>
        </p:txBody>
      </p:sp>
      <p:sp>
        <p:nvSpPr>
          <p:cNvPr id="27" name="Shape 24"/>
          <p:cNvSpPr/>
          <p:nvPr/>
        </p:nvSpPr>
        <p:spPr>
          <a:xfrm>
            <a:off x="731520" y="4251960"/>
            <a:ext cx="10689336" cy="0"/>
          </a:xfrm>
          <a:prstGeom prst="line">
            <a:avLst/>
          </a:prstGeom>
          <a:noFill/>
          <a:ln w="8890">
            <a:solidFill>
              <a:srgbClr val="D9E7E2"/>
            </a:solidFill>
            <a:prstDash val="solid"/>
          </a:ln>
        </p:spPr>
      </p:sp>
      <p:sp>
        <p:nvSpPr>
          <p:cNvPr id="28" name="Text 25"/>
          <p:cNvSpPr/>
          <p:nvPr/>
        </p:nvSpPr>
        <p:spPr>
          <a:xfrm>
            <a:off x="749808" y="4416552"/>
            <a:ext cx="1691640" cy="256032"/>
          </a:xfrm>
          <a:prstGeom prst="rect">
            <a:avLst/>
          </a:prstGeom>
          <a:noFill/>
          <a:ln/>
        </p:spPr>
        <p:txBody>
          <a:bodyPr wrap="square" lIns="0" tIns="0" rIns="0" bIns="0" rtlCol="0" anchor="ctr">
            <a:normAutofit/>
          </a:bodyPr>
          <a:lstStyle/>
          <a:p>
            <a:pPr indent="0" marL="0">
              <a:buNone/>
            </a:pPr>
            <a:r>
              <a:rPr lang="en-US" sz="1100" b="1" dirty="0">
                <a:solidFill>
                  <a:srgbClr val="0F7B62"/>
                </a:solidFill>
              </a:rPr>
              <a:t>MediClin</a:t>
            </a:r>
            <a:endParaRPr lang="en-US" sz="1100" dirty="0"/>
          </a:p>
        </p:txBody>
      </p:sp>
      <p:sp>
        <p:nvSpPr>
          <p:cNvPr id="29" name="Text 26"/>
          <p:cNvSpPr/>
          <p:nvPr/>
        </p:nvSpPr>
        <p:spPr>
          <a:xfrm>
            <a:off x="2578608" y="4416552"/>
            <a:ext cx="246888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Roluri doctor/pacient integrate</a:t>
            </a:r>
            <a:endParaRPr lang="en-US" sz="980" dirty="0"/>
          </a:p>
        </p:txBody>
      </p:sp>
      <p:sp>
        <p:nvSpPr>
          <p:cNvPr id="30" name="Text 27"/>
          <p:cNvSpPr/>
          <p:nvPr/>
        </p:nvSpPr>
        <p:spPr>
          <a:xfrm>
            <a:off x="5184648" y="4416552"/>
            <a:ext cx="283464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Proiect educațional în dezvoltare</a:t>
            </a:r>
            <a:endParaRPr lang="en-US" sz="980" dirty="0"/>
          </a:p>
        </p:txBody>
      </p:sp>
      <p:sp>
        <p:nvSpPr>
          <p:cNvPr id="31" name="Text 28"/>
          <p:cNvSpPr/>
          <p:nvPr/>
        </p:nvSpPr>
        <p:spPr>
          <a:xfrm>
            <a:off x="8156448" y="4416552"/>
            <a:ext cx="3108960" cy="256032"/>
          </a:xfrm>
          <a:prstGeom prst="rect">
            <a:avLst/>
          </a:prstGeom>
          <a:noFill/>
          <a:ln/>
        </p:spPr>
        <p:txBody>
          <a:bodyPr wrap="square" lIns="0" tIns="0" rIns="0" bIns="0" rtlCol="0" anchor="ctr">
            <a:normAutofit/>
          </a:bodyPr>
          <a:lstStyle/>
          <a:p>
            <a:pPr indent="0" marL="0">
              <a:buNone/>
            </a:pPr>
            <a:r>
              <a:rPr lang="en-US" sz="980" dirty="0">
                <a:solidFill>
                  <a:srgbClr val="071524"/>
                </a:solidFill>
              </a:rPr>
              <a:t>Control local și adaptare</a:t>
            </a:r>
            <a:endParaRPr lang="en-US" sz="980" dirty="0"/>
          </a:p>
        </p:txBody>
      </p:sp>
      <p:sp>
        <p:nvSpPr>
          <p:cNvPr id="32" name="Text 29"/>
          <p:cNvSpPr/>
          <p:nvPr/>
        </p:nvSpPr>
        <p:spPr>
          <a:xfrm>
            <a:off x="749808" y="5870448"/>
            <a:ext cx="10515600" cy="256032"/>
          </a:xfrm>
          <a:prstGeom prst="rect">
            <a:avLst/>
          </a:prstGeom>
          <a:noFill/>
          <a:ln/>
        </p:spPr>
        <p:txBody>
          <a:bodyPr wrap="square" lIns="762" tIns="762" rIns="762" bIns="762" rtlCol="0" anchor="ctr">
            <a:normAutofit/>
          </a:bodyPr>
          <a:lstStyle/>
          <a:p>
            <a:pPr indent="0" marL="0">
              <a:buNone/>
            </a:pPr>
            <a:r>
              <a:rPr lang="en-US" sz="1200" dirty="0">
                <a:solidFill>
                  <a:srgbClr val="6B7C86"/>
                </a:solidFill>
                <a:latin typeface="Aptos" pitchFamily="34" charset="0"/>
                <a:ea typeface="Aptos" pitchFamily="34" charset="-122"/>
                <a:cs typeface="Aptos" pitchFamily="34" charset="-120"/>
              </a:rPr>
              <a:t>Concluzie: soluțiile existente confirmă nevoia sistemului, iar MediClin se diferențiază printr-un flux educațional complet, local, ușor de demonstrat și adaptat.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SPECIFICAȚIE</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Scopul, obiectivele și cerințele sistemului</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04</a:t>
            </a:r>
            <a:endParaRPr lang="en-US" sz="650" dirty="0"/>
          </a:p>
        </p:txBody>
      </p:sp>
      <p:sp>
        <p:nvSpPr>
          <p:cNvPr id="7" name="Shape 4"/>
          <p:cNvSpPr/>
          <p:nvPr/>
        </p:nvSpPr>
        <p:spPr>
          <a:xfrm>
            <a:off x="594360" y="1243584"/>
            <a:ext cx="3337560" cy="4434840"/>
          </a:xfrm>
          <a:prstGeom prst="roundRect">
            <a:avLst>
              <a:gd name="adj" fmla="val 2192"/>
            </a:avLst>
          </a:prstGeom>
          <a:solidFill>
            <a:srgbClr val="0F7B62"/>
          </a:solidFill>
          <a:ln w="12700">
            <a:solidFill>
              <a:srgbClr val="0F7B62"/>
            </a:solidFill>
            <a:prstDash val="solid"/>
          </a:ln>
        </p:spPr>
      </p:sp>
      <p:sp>
        <p:nvSpPr>
          <p:cNvPr id="8" name="Text 5"/>
          <p:cNvSpPr/>
          <p:nvPr/>
        </p:nvSpPr>
        <p:spPr>
          <a:xfrm>
            <a:off x="896112" y="1609344"/>
            <a:ext cx="1920240" cy="228600"/>
          </a:xfrm>
          <a:prstGeom prst="rect">
            <a:avLst/>
          </a:prstGeom>
          <a:noFill/>
          <a:ln/>
        </p:spPr>
        <p:txBody>
          <a:bodyPr wrap="square" lIns="0" tIns="0" rIns="0" bIns="0" rtlCol="0" anchor="ctr"/>
          <a:lstStyle/>
          <a:p>
            <a:pPr indent="0" marL="0">
              <a:buNone/>
            </a:pPr>
            <a:r>
              <a:rPr lang="en-US" sz="1900" b="1" dirty="0">
                <a:solidFill>
                  <a:srgbClr val="FFFFFF"/>
                </a:solidFill>
              </a:rPr>
              <a:t>Scop</a:t>
            </a:r>
            <a:endParaRPr lang="en-US" sz="1900" dirty="0"/>
          </a:p>
        </p:txBody>
      </p:sp>
      <p:sp>
        <p:nvSpPr>
          <p:cNvPr id="9" name="Text 6"/>
          <p:cNvSpPr/>
          <p:nvPr/>
        </p:nvSpPr>
        <p:spPr>
          <a:xfrm>
            <a:off x="896112" y="2057400"/>
            <a:ext cx="2560320" cy="1417320"/>
          </a:xfrm>
          <a:prstGeom prst="rect">
            <a:avLst/>
          </a:prstGeom>
          <a:noFill/>
          <a:ln/>
        </p:spPr>
        <p:txBody>
          <a:bodyPr wrap="square" lIns="762" tIns="762" rIns="762" bIns="762" rtlCol="0" anchor="ctr">
            <a:normAutofit/>
          </a:bodyPr>
          <a:lstStyle/>
          <a:p>
            <a:pPr indent="0" marL="0">
              <a:buNone/>
            </a:pPr>
            <a:r>
              <a:rPr lang="en-US" sz="1500" dirty="0">
                <a:solidFill>
                  <a:srgbClr val="FFFFFF"/>
                </a:solidFill>
                <a:latin typeface="Aptos" pitchFamily="34" charset="0"/>
                <a:ea typeface="Aptos" pitchFamily="34" charset="-122"/>
                <a:cs typeface="Aptos" pitchFamily="34" charset="-120"/>
              </a:rPr>
              <a:t>Realizarea unei platforme desktop care ajută medicul și pacientul să gestioneze consultațiile, documentele medicale și comunicarea într-un singur loc.</a:t>
            </a:r>
            <a:endParaRPr lang="en-US" sz="1500" dirty="0"/>
          </a:p>
        </p:txBody>
      </p:sp>
      <p:sp>
        <p:nvSpPr>
          <p:cNvPr id="10" name="Shape 7"/>
          <p:cNvSpPr/>
          <p:nvPr/>
        </p:nvSpPr>
        <p:spPr>
          <a:xfrm>
            <a:off x="896112" y="4892040"/>
            <a:ext cx="2286000" cy="310896"/>
          </a:xfrm>
          <a:prstGeom prst="roundRect">
            <a:avLst>
              <a:gd name="adj" fmla="val 23529"/>
            </a:avLst>
          </a:prstGeom>
          <a:solidFill>
            <a:srgbClr val="DFF3EC"/>
          </a:solidFill>
          <a:ln w="12700">
            <a:solidFill>
              <a:srgbClr val="DFF3EC">
                <a:alpha val="0"/>
              </a:srgbClr>
            </a:solidFill>
            <a:prstDash val="solid"/>
          </a:ln>
        </p:spPr>
      </p:sp>
      <p:sp>
        <p:nvSpPr>
          <p:cNvPr id="11" name="Text 8"/>
          <p:cNvSpPr/>
          <p:nvPr/>
        </p:nvSpPr>
        <p:spPr>
          <a:xfrm>
            <a:off x="1005840" y="4969764"/>
            <a:ext cx="2066544" cy="109728"/>
          </a:xfrm>
          <a:prstGeom prst="rect">
            <a:avLst/>
          </a:prstGeom>
          <a:noFill/>
          <a:ln/>
        </p:spPr>
        <p:txBody>
          <a:bodyPr wrap="square" lIns="0" tIns="0" rIns="0" bIns="0" rtlCol="0" anchor="ctr"/>
          <a:lstStyle/>
          <a:p>
            <a:pPr algn="ctr" indent="0" marL="0">
              <a:buNone/>
            </a:pPr>
            <a:r>
              <a:rPr lang="en-US" sz="850" b="1" dirty="0">
                <a:solidFill>
                  <a:srgbClr val="0F7B62"/>
                </a:solidFill>
              </a:rPr>
              <a:t>clean · modern · secure</a:t>
            </a:r>
            <a:endParaRPr lang="en-US" sz="850" dirty="0"/>
          </a:p>
        </p:txBody>
      </p:sp>
      <p:sp>
        <p:nvSpPr>
          <p:cNvPr id="12" name="Shape 9"/>
          <p:cNvSpPr/>
          <p:nvPr/>
        </p:nvSpPr>
        <p:spPr>
          <a:xfrm>
            <a:off x="4251960" y="1243584"/>
            <a:ext cx="3383280" cy="4434840"/>
          </a:xfrm>
          <a:prstGeom prst="roundRect">
            <a:avLst>
              <a:gd name="adj" fmla="val 2162"/>
            </a:avLst>
          </a:prstGeom>
          <a:solidFill>
            <a:srgbClr val="FFFFFF"/>
          </a:solidFill>
          <a:ln w="12700">
            <a:solidFill>
              <a:srgbClr val="D9E7E2"/>
            </a:solidFill>
            <a:prstDash val="solid"/>
          </a:ln>
        </p:spPr>
      </p:sp>
      <p:sp>
        <p:nvSpPr>
          <p:cNvPr id="13" name="Text 10"/>
          <p:cNvSpPr/>
          <p:nvPr/>
        </p:nvSpPr>
        <p:spPr>
          <a:xfrm>
            <a:off x="4553712" y="1591056"/>
            <a:ext cx="2286000" cy="219456"/>
          </a:xfrm>
          <a:prstGeom prst="rect">
            <a:avLst/>
          </a:prstGeom>
          <a:noFill/>
          <a:ln/>
        </p:spPr>
        <p:txBody>
          <a:bodyPr wrap="square" lIns="0" tIns="0" rIns="0" bIns="0" rtlCol="0" anchor="ctr"/>
          <a:lstStyle/>
          <a:p>
            <a:pPr indent="0" marL="0">
              <a:buNone/>
            </a:pPr>
            <a:r>
              <a:rPr lang="en-US" sz="1800" b="1" dirty="0">
                <a:solidFill>
                  <a:srgbClr val="071524"/>
                </a:solidFill>
              </a:rPr>
              <a:t>Obiective</a:t>
            </a:r>
            <a:endParaRPr lang="en-US" sz="1800" dirty="0"/>
          </a:p>
        </p:txBody>
      </p:sp>
      <p:sp>
        <p:nvSpPr>
          <p:cNvPr id="14" name="Text 11"/>
          <p:cNvSpPr/>
          <p:nvPr/>
        </p:nvSpPr>
        <p:spPr>
          <a:xfrm>
            <a:off x="4553712" y="2029968"/>
            <a:ext cx="2560320" cy="2606040"/>
          </a:xfrm>
          <a:prstGeom prst="rect">
            <a:avLst/>
          </a:prstGeom>
          <a:noFill/>
          <a:ln/>
        </p:spPr>
        <p:txBody>
          <a:bodyPr wrap="square" lIns="1016" tIns="1016" rIns="1016" bIns="1016" rtlCol="0" anchor="ctr">
            <a:normAutofit/>
          </a:bodyPr>
          <a:lstStyle/>
          <a:p>
            <a:r>
              <a:rPr lang="en-US" sz="1120" dirty="0">
                <a:solidFill>
                  <a:srgbClr val="071524"/>
                </a:solidFill>
                <a:latin typeface="Aptos" pitchFamily="34" charset="0"/>
                <a:ea typeface="Aptos" pitchFamily="34" charset="-122"/>
                <a:cs typeface="Aptos" pitchFamily="34" charset="-120"/>
              </a:rPr>
              <a:t>autentificare pe roluri</a:t>
            </a:r>
            <a:endParaRPr lang="en-US" sz="1120" dirty="0"/>
          </a:p>
          <a:p>
            <a:r>
              <a:rPr lang="en-US" sz="1120" dirty="0">
                <a:solidFill>
                  <a:srgbClr val="071524"/>
                </a:solidFill>
                <a:latin typeface="Aptos" pitchFamily="34" charset="0"/>
                <a:ea typeface="Aptos" pitchFamily="34" charset="-122"/>
                <a:cs typeface="Aptos" pitchFamily="34" charset="-120"/>
              </a:rPr>
              <a:t>dashboard medic și pacient</a:t>
            </a:r>
            <a:endParaRPr lang="en-US" sz="1120" dirty="0"/>
          </a:p>
          <a:p>
            <a:r>
              <a:rPr lang="en-US" sz="1120" dirty="0">
                <a:solidFill>
                  <a:srgbClr val="071524"/>
                </a:solidFill>
                <a:latin typeface="Aptos" pitchFamily="34" charset="0"/>
                <a:ea typeface="Aptos" pitchFamily="34" charset="-122"/>
                <a:cs typeface="Aptos" pitchFamily="34" charset="-120"/>
              </a:rPr>
              <a:t>programări cu status</a:t>
            </a:r>
            <a:endParaRPr lang="en-US" sz="1120" dirty="0"/>
          </a:p>
          <a:p>
            <a:r>
              <a:rPr lang="en-US" sz="1120" dirty="0">
                <a:solidFill>
                  <a:srgbClr val="071524"/>
                </a:solidFill>
                <a:latin typeface="Aptos" pitchFamily="34" charset="0"/>
                <a:ea typeface="Aptos" pitchFamily="34" charset="-122"/>
                <a:cs typeface="Aptos" pitchFamily="34" charset="-120"/>
              </a:rPr>
              <a:t>fișă medicală cronologică</a:t>
            </a:r>
            <a:endParaRPr lang="en-US" sz="1120" dirty="0"/>
          </a:p>
          <a:p>
            <a:r>
              <a:rPr lang="en-US" sz="1120" dirty="0">
                <a:solidFill>
                  <a:srgbClr val="071524"/>
                </a:solidFill>
                <a:latin typeface="Aptos" pitchFamily="34" charset="0"/>
                <a:ea typeface="Aptos" pitchFamily="34" charset="-122"/>
                <a:cs typeface="Aptos" pitchFamily="34" charset="-120"/>
              </a:rPr>
              <a:t>rețete, analize, mesaje</a:t>
            </a:r>
            <a:endParaRPr lang="en-US" sz="1120" dirty="0"/>
          </a:p>
          <a:p>
            <a:r>
              <a:rPr lang="en-US" sz="1120" dirty="0">
                <a:solidFill>
                  <a:srgbClr val="071524"/>
                </a:solidFill>
                <a:latin typeface="Aptos" pitchFamily="34" charset="0"/>
                <a:ea typeface="Aptos" pitchFamily="34" charset="-122"/>
                <a:cs typeface="Aptos" pitchFamily="34" charset="-120"/>
              </a:rPr>
              <a:t>rapoarte financiare și export</a:t>
            </a:r>
            <a:endParaRPr lang="en-US" sz="1120" dirty="0"/>
          </a:p>
        </p:txBody>
      </p:sp>
      <p:sp>
        <p:nvSpPr>
          <p:cNvPr id="15" name="Shape 12"/>
          <p:cNvSpPr/>
          <p:nvPr/>
        </p:nvSpPr>
        <p:spPr>
          <a:xfrm>
            <a:off x="7973568" y="1243584"/>
            <a:ext cx="3621024" cy="4434840"/>
          </a:xfrm>
          <a:prstGeom prst="roundRect">
            <a:avLst>
              <a:gd name="adj" fmla="val 2020"/>
            </a:avLst>
          </a:prstGeom>
          <a:solidFill>
            <a:srgbClr val="FFFFFF"/>
          </a:solidFill>
          <a:ln w="12700">
            <a:solidFill>
              <a:srgbClr val="D9E7E2"/>
            </a:solidFill>
            <a:prstDash val="solid"/>
          </a:ln>
        </p:spPr>
      </p:sp>
      <p:sp>
        <p:nvSpPr>
          <p:cNvPr id="16" name="Text 13"/>
          <p:cNvSpPr/>
          <p:nvPr/>
        </p:nvSpPr>
        <p:spPr>
          <a:xfrm>
            <a:off x="8275320" y="1591056"/>
            <a:ext cx="2286000" cy="219456"/>
          </a:xfrm>
          <a:prstGeom prst="rect">
            <a:avLst/>
          </a:prstGeom>
          <a:noFill/>
          <a:ln/>
        </p:spPr>
        <p:txBody>
          <a:bodyPr wrap="square" lIns="0" tIns="0" rIns="0" bIns="0" rtlCol="0" anchor="ctr"/>
          <a:lstStyle/>
          <a:p>
            <a:pPr indent="0" marL="0">
              <a:buNone/>
            </a:pPr>
            <a:r>
              <a:rPr lang="en-US" sz="1800" b="1" dirty="0">
                <a:solidFill>
                  <a:srgbClr val="071524"/>
                </a:solidFill>
              </a:rPr>
              <a:t>Cerințe</a:t>
            </a:r>
            <a:endParaRPr lang="en-US" sz="1800" dirty="0"/>
          </a:p>
        </p:txBody>
      </p:sp>
      <p:sp>
        <p:nvSpPr>
          <p:cNvPr id="17" name="Text 14"/>
          <p:cNvSpPr/>
          <p:nvPr/>
        </p:nvSpPr>
        <p:spPr>
          <a:xfrm>
            <a:off x="8275320" y="2029968"/>
            <a:ext cx="2788920" cy="2606040"/>
          </a:xfrm>
          <a:prstGeom prst="rect">
            <a:avLst/>
          </a:prstGeom>
          <a:noFill/>
          <a:ln/>
        </p:spPr>
        <p:txBody>
          <a:bodyPr wrap="square" lIns="1016" tIns="1016" rIns="1016" bIns="1016" rtlCol="0" anchor="ctr">
            <a:normAutofit/>
          </a:bodyPr>
          <a:lstStyle/>
          <a:p>
            <a:r>
              <a:rPr lang="en-US" sz="1120" dirty="0">
                <a:solidFill>
                  <a:srgbClr val="071524"/>
                </a:solidFill>
                <a:latin typeface="Aptos" pitchFamily="34" charset="0"/>
                <a:ea typeface="Aptos" pitchFamily="34" charset="-122"/>
                <a:cs typeface="Aptos" pitchFamily="34" charset="-120"/>
              </a:rPr>
              <a:t>interfață responsivă WPF</a:t>
            </a:r>
            <a:endParaRPr lang="en-US" sz="1120" dirty="0"/>
          </a:p>
          <a:p>
            <a:r>
              <a:rPr lang="en-US" sz="1120" dirty="0">
                <a:solidFill>
                  <a:srgbClr val="071524"/>
                </a:solidFill>
                <a:latin typeface="Aptos" pitchFamily="34" charset="0"/>
                <a:ea typeface="Aptos" pitchFamily="34" charset="-122"/>
                <a:cs typeface="Aptos" pitchFamily="34" charset="-120"/>
              </a:rPr>
              <a:t>validare date medicale</a:t>
            </a:r>
            <a:endParaRPr lang="en-US" sz="1120" dirty="0"/>
          </a:p>
          <a:p>
            <a:r>
              <a:rPr lang="en-US" sz="1120" dirty="0">
                <a:solidFill>
                  <a:srgbClr val="071524"/>
                </a:solidFill>
                <a:latin typeface="Aptos" pitchFamily="34" charset="0"/>
                <a:ea typeface="Aptos" pitchFamily="34" charset="-122"/>
                <a:cs typeface="Aptos" pitchFamily="34" charset="-120"/>
              </a:rPr>
              <a:t>notificări și jurnal audit</a:t>
            </a:r>
            <a:endParaRPr lang="en-US" sz="1120" dirty="0"/>
          </a:p>
          <a:p>
            <a:r>
              <a:rPr lang="en-US" sz="1120" dirty="0">
                <a:solidFill>
                  <a:srgbClr val="071524"/>
                </a:solidFill>
                <a:latin typeface="Aptos" pitchFamily="34" charset="0"/>
                <a:ea typeface="Aptos" pitchFamily="34" charset="-122"/>
                <a:cs typeface="Aptos" pitchFamily="34" charset="-120"/>
              </a:rPr>
              <a:t>dark mode salvat local</a:t>
            </a:r>
            <a:endParaRPr lang="en-US" sz="1120" dirty="0"/>
          </a:p>
          <a:p>
            <a:r>
              <a:rPr lang="en-US" sz="1120" dirty="0">
                <a:solidFill>
                  <a:srgbClr val="071524"/>
                </a:solidFill>
                <a:latin typeface="Aptos" pitchFamily="34" charset="0"/>
                <a:ea typeface="Aptos" pitchFamily="34" charset="-122"/>
                <a:cs typeface="Aptos" pitchFamily="34" charset="-120"/>
              </a:rPr>
              <a:t>export PDF/CSV</a:t>
            </a:r>
            <a:endParaRPr lang="en-US" sz="1120" dirty="0"/>
          </a:p>
          <a:p>
            <a:r>
              <a:rPr lang="en-US" sz="1120" dirty="0">
                <a:solidFill>
                  <a:srgbClr val="071524"/>
                </a:solidFill>
                <a:latin typeface="Aptos" pitchFamily="34" charset="0"/>
                <a:ea typeface="Aptos" pitchFamily="34" charset="-122"/>
                <a:cs typeface="Aptos" pitchFamily="34" charset="-120"/>
              </a:rPr>
              <a:t>separare UI / business / data</a:t>
            </a:r>
            <a:endParaRPr lang="en-US" sz="11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COMPORTAMENTUL APLICAȚIEI</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Diagrama Use-Case</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05</a:t>
            </a:r>
            <a:endParaRPr lang="en-US" sz="650" dirty="0"/>
          </a:p>
        </p:txBody>
      </p:sp>
      <p:sp>
        <p:nvSpPr>
          <p:cNvPr id="7" name="Text 4"/>
          <p:cNvSpPr/>
          <p:nvPr/>
        </p:nvSpPr>
        <p:spPr>
          <a:xfrm>
            <a:off x="658368" y="1508760"/>
            <a:ext cx="914400" cy="182880"/>
          </a:xfrm>
          <a:prstGeom prst="rect">
            <a:avLst/>
          </a:prstGeom>
          <a:noFill/>
          <a:ln/>
        </p:spPr>
        <p:txBody>
          <a:bodyPr wrap="square" lIns="0" tIns="0" rIns="0" bIns="0" rtlCol="0" anchor="ctr"/>
          <a:lstStyle/>
          <a:p>
            <a:pPr indent="0" marL="0">
              <a:buNone/>
            </a:pPr>
            <a:r>
              <a:rPr lang="en-US" sz="1300" b="1" dirty="0">
                <a:solidFill>
                  <a:srgbClr val="0F7B62"/>
                </a:solidFill>
              </a:rPr>
              <a:t>Pacient</a:t>
            </a:r>
            <a:endParaRPr lang="en-US" sz="1300" dirty="0"/>
          </a:p>
        </p:txBody>
      </p:sp>
      <p:sp>
        <p:nvSpPr>
          <p:cNvPr id="8" name="Shape 5"/>
          <p:cNvSpPr/>
          <p:nvPr/>
        </p:nvSpPr>
        <p:spPr>
          <a:xfrm>
            <a:off x="841248" y="1847088"/>
            <a:ext cx="347472" cy="347472"/>
          </a:xfrm>
          <a:prstGeom prst="ellipse">
            <a:avLst/>
          </a:prstGeom>
          <a:solidFill>
            <a:srgbClr val="0F7B62"/>
          </a:solidFill>
          <a:ln w="12700">
            <a:solidFill>
              <a:srgbClr val="0F7B62"/>
            </a:solidFill>
            <a:prstDash val="solid"/>
          </a:ln>
        </p:spPr>
      </p:sp>
      <p:sp>
        <p:nvSpPr>
          <p:cNvPr id="9" name="Shape 6"/>
          <p:cNvSpPr/>
          <p:nvPr/>
        </p:nvSpPr>
        <p:spPr>
          <a:xfrm>
            <a:off x="1014984" y="2194560"/>
            <a:ext cx="0" cy="777240"/>
          </a:xfrm>
          <a:prstGeom prst="line">
            <a:avLst/>
          </a:prstGeom>
          <a:noFill/>
          <a:ln w="25400">
            <a:solidFill>
              <a:srgbClr val="0F7B62"/>
            </a:solidFill>
            <a:prstDash val="solid"/>
          </a:ln>
        </p:spPr>
      </p:sp>
      <p:sp>
        <p:nvSpPr>
          <p:cNvPr id="10" name="Shape 7"/>
          <p:cNvSpPr/>
          <p:nvPr/>
        </p:nvSpPr>
        <p:spPr>
          <a:xfrm>
            <a:off x="658368" y="2450592"/>
            <a:ext cx="713232" cy="0"/>
          </a:xfrm>
          <a:prstGeom prst="line">
            <a:avLst/>
          </a:prstGeom>
          <a:noFill/>
          <a:ln w="25400">
            <a:solidFill>
              <a:srgbClr val="0F7B62"/>
            </a:solidFill>
            <a:prstDash val="solid"/>
          </a:ln>
        </p:spPr>
      </p:sp>
      <p:sp>
        <p:nvSpPr>
          <p:cNvPr id="11" name="Shape 8"/>
          <p:cNvSpPr/>
          <p:nvPr/>
        </p:nvSpPr>
        <p:spPr>
          <a:xfrm>
            <a:off x="1014984" y="2971800"/>
            <a:ext cx="-384048" cy="640080"/>
          </a:xfrm>
          <a:prstGeom prst="line">
            <a:avLst/>
          </a:prstGeom>
          <a:noFill/>
          <a:ln w="25400">
            <a:solidFill>
              <a:srgbClr val="0F7B62"/>
            </a:solidFill>
            <a:prstDash val="solid"/>
          </a:ln>
        </p:spPr>
      </p:sp>
      <p:sp>
        <p:nvSpPr>
          <p:cNvPr id="12" name="Shape 9"/>
          <p:cNvSpPr/>
          <p:nvPr/>
        </p:nvSpPr>
        <p:spPr>
          <a:xfrm>
            <a:off x="1014984" y="2971800"/>
            <a:ext cx="384048" cy="640080"/>
          </a:xfrm>
          <a:prstGeom prst="line">
            <a:avLst/>
          </a:prstGeom>
          <a:noFill/>
          <a:ln w="25400">
            <a:solidFill>
              <a:srgbClr val="0F7B62"/>
            </a:solidFill>
            <a:prstDash val="solid"/>
          </a:ln>
        </p:spPr>
      </p:sp>
      <p:sp>
        <p:nvSpPr>
          <p:cNvPr id="13" name="Text 10"/>
          <p:cNvSpPr/>
          <p:nvPr/>
        </p:nvSpPr>
        <p:spPr>
          <a:xfrm>
            <a:off x="10625328" y="1508760"/>
            <a:ext cx="914400" cy="182880"/>
          </a:xfrm>
          <a:prstGeom prst="rect">
            <a:avLst/>
          </a:prstGeom>
          <a:noFill/>
          <a:ln/>
        </p:spPr>
        <p:txBody>
          <a:bodyPr wrap="square" lIns="0" tIns="0" rIns="0" bIns="0" rtlCol="0" anchor="ctr"/>
          <a:lstStyle/>
          <a:p>
            <a:pPr indent="0" marL="0">
              <a:buNone/>
            </a:pPr>
            <a:r>
              <a:rPr lang="en-US" sz="1300" b="1" dirty="0">
                <a:solidFill>
                  <a:srgbClr val="2F80ED"/>
                </a:solidFill>
              </a:rPr>
              <a:t>Medic</a:t>
            </a:r>
            <a:endParaRPr lang="en-US" sz="1300" dirty="0"/>
          </a:p>
        </p:txBody>
      </p:sp>
      <p:sp>
        <p:nvSpPr>
          <p:cNvPr id="14" name="Shape 11"/>
          <p:cNvSpPr/>
          <p:nvPr/>
        </p:nvSpPr>
        <p:spPr>
          <a:xfrm>
            <a:off x="10771632" y="1847088"/>
            <a:ext cx="347472" cy="347472"/>
          </a:xfrm>
          <a:prstGeom prst="ellipse">
            <a:avLst/>
          </a:prstGeom>
          <a:solidFill>
            <a:srgbClr val="2F80ED"/>
          </a:solidFill>
          <a:ln w="12700">
            <a:solidFill>
              <a:srgbClr val="2F80ED"/>
            </a:solidFill>
            <a:prstDash val="solid"/>
          </a:ln>
        </p:spPr>
      </p:sp>
      <p:sp>
        <p:nvSpPr>
          <p:cNvPr id="15" name="Shape 12"/>
          <p:cNvSpPr/>
          <p:nvPr/>
        </p:nvSpPr>
        <p:spPr>
          <a:xfrm>
            <a:off x="10945368" y="2194560"/>
            <a:ext cx="0" cy="777240"/>
          </a:xfrm>
          <a:prstGeom prst="line">
            <a:avLst/>
          </a:prstGeom>
          <a:noFill/>
          <a:ln w="25400">
            <a:solidFill>
              <a:srgbClr val="2F80ED"/>
            </a:solidFill>
            <a:prstDash val="solid"/>
          </a:ln>
        </p:spPr>
      </p:sp>
      <p:sp>
        <p:nvSpPr>
          <p:cNvPr id="16" name="Shape 13"/>
          <p:cNvSpPr/>
          <p:nvPr/>
        </p:nvSpPr>
        <p:spPr>
          <a:xfrm>
            <a:off x="10588752" y="2450592"/>
            <a:ext cx="713232" cy="0"/>
          </a:xfrm>
          <a:prstGeom prst="line">
            <a:avLst/>
          </a:prstGeom>
          <a:noFill/>
          <a:ln w="25400">
            <a:solidFill>
              <a:srgbClr val="2F80ED"/>
            </a:solidFill>
            <a:prstDash val="solid"/>
          </a:ln>
        </p:spPr>
      </p:sp>
      <p:sp>
        <p:nvSpPr>
          <p:cNvPr id="17" name="Shape 14"/>
          <p:cNvSpPr/>
          <p:nvPr/>
        </p:nvSpPr>
        <p:spPr>
          <a:xfrm>
            <a:off x="10945368" y="2971800"/>
            <a:ext cx="-384048" cy="640080"/>
          </a:xfrm>
          <a:prstGeom prst="line">
            <a:avLst/>
          </a:prstGeom>
          <a:noFill/>
          <a:ln w="25400">
            <a:solidFill>
              <a:srgbClr val="2F80ED"/>
            </a:solidFill>
            <a:prstDash val="solid"/>
          </a:ln>
        </p:spPr>
      </p:sp>
      <p:sp>
        <p:nvSpPr>
          <p:cNvPr id="18" name="Shape 15"/>
          <p:cNvSpPr/>
          <p:nvPr/>
        </p:nvSpPr>
        <p:spPr>
          <a:xfrm>
            <a:off x="10945368" y="2971800"/>
            <a:ext cx="384048" cy="640080"/>
          </a:xfrm>
          <a:prstGeom prst="line">
            <a:avLst/>
          </a:prstGeom>
          <a:noFill/>
          <a:ln w="25400">
            <a:solidFill>
              <a:srgbClr val="2F80ED"/>
            </a:solidFill>
            <a:prstDash val="solid"/>
          </a:ln>
        </p:spPr>
      </p:sp>
      <p:sp>
        <p:nvSpPr>
          <p:cNvPr id="19" name="Shape 16"/>
          <p:cNvSpPr/>
          <p:nvPr/>
        </p:nvSpPr>
        <p:spPr>
          <a:xfrm>
            <a:off x="4480560" y="1353312"/>
            <a:ext cx="2834640" cy="393192"/>
          </a:xfrm>
          <a:prstGeom prst="ellipse">
            <a:avLst/>
          </a:prstGeom>
          <a:solidFill>
            <a:srgbClr val="DFF3EC"/>
          </a:solidFill>
          <a:ln w="12700">
            <a:solidFill>
              <a:srgbClr val="BFE5D8"/>
            </a:solidFill>
            <a:prstDash val="solid"/>
          </a:ln>
        </p:spPr>
      </p:sp>
      <p:sp>
        <p:nvSpPr>
          <p:cNvPr id="20" name="Text 17"/>
          <p:cNvSpPr/>
          <p:nvPr/>
        </p:nvSpPr>
        <p:spPr>
          <a:xfrm>
            <a:off x="4617720" y="1476756"/>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Autentificare</a:t>
            </a:r>
            <a:endParaRPr lang="en-US" sz="980" dirty="0"/>
          </a:p>
        </p:txBody>
      </p:sp>
      <p:sp>
        <p:nvSpPr>
          <p:cNvPr id="21" name="Shape 18"/>
          <p:cNvSpPr/>
          <p:nvPr/>
        </p:nvSpPr>
        <p:spPr>
          <a:xfrm>
            <a:off x="1389888" y="2816352"/>
            <a:ext cx="3090672" cy="-1271016"/>
          </a:xfrm>
          <a:prstGeom prst="line">
            <a:avLst/>
          </a:prstGeom>
          <a:noFill/>
          <a:ln w="8890">
            <a:solidFill>
              <a:srgbClr val="B5C9C2">
                <a:alpha val="75000"/>
              </a:srgbClr>
            </a:solidFill>
            <a:prstDash val="solid"/>
          </a:ln>
        </p:spPr>
      </p:sp>
      <p:sp>
        <p:nvSpPr>
          <p:cNvPr id="22" name="Shape 19"/>
          <p:cNvSpPr/>
          <p:nvPr/>
        </p:nvSpPr>
        <p:spPr>
          <a:xfrm>
            <a:off x="7315200" y="1545336"/>
            <a:ext cx="3246120" cy="1271016"/>
          </a:xfrm>
          <a:prstGeom prst="line">
            <a:avLst/>
          </a:prstGeom>
          <a:noFill/>
          <a:ln w="8890">
            <a:solidFill>
              <a:srgbClr val="B5C9C2">
                <a:alpha val="75000"/>
              </a:srgbClr>
            </a:solidFill>
            <a:prstDash val="solid"/>
          </a:ln>
        </p:spPr>
      </p:sp>
      <p:sp>
        <p:nvSpPr>
          <p:cNvPr id="23" name="Shape 20"/>
          <p:cNvSpPr/>
          <p:nvPr/>
        </p:nvSpPr>
        <p:spPr>
          <a:xfrm>
            <a:off x="4251960" y="1965960"/>
            <a:ext cx="2834640" cy="393192"/>
          </a:xfrm>
          <a:prstGeom prst="ellipse">
            <a:avLst/>
          </a:prstGeom>
          <a:solidFill>
            <a:srgbClr val="EAF2FF"/>
          </a:solidFill>
          <a:ln w="12700">
            <a:solidFill>
              <a:srgbClr val="BFD8FF"/>
            </a:solidFill>
            <a:prstDash val="solid"/>
          </a:ln>
        </p:spPr>
      </p:sp>
      <p:sp>
        <p:nvSpPr>
          <p:cNvPr id="24" name="Text 21"/>
          <p:cNvSpPr/>
          <p:nvPr/>
        </p:nvSpPr>
        <p:spPr>
          <a:xfrm>
            <a:off x="4389120" y="2089404"/>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Vizualizare dashboard</a:t>
            </a:r>
            <a:endParaRPr lang="en-US" sz="980" dirty="0"/>
          </a:p>
        </p:txBody>
      </p:sp>
      <p:sp>
        <p:nvSpPr>
          <p:cNvPr id="25" name="Shape 22"/>
          <p:cNvSpPr/>
          <p:nvPr/>
        </p:nvSpPr>
        <p:spPr>
          <a:xfrm>
            <a:off x="1389888" y="2816352"/>
            <a:ext cx="2862072" cy="-658368"/>
          </a:xfrm>
          <a:prstGeom prst="line">
            <a:avLst/>
          </a:prstGeom>
          <a:noFill/>
          <a:ln w="8890">
            <a:solidFill>
              <a:srgbClr val="B5C9C2">
                <a:alpha val="75000"/>
              </a:srgbClr>
            </a:solidFill>
            <a:prstDash val="solid"/>
          </a:ln>
        </p:spPr>
      </p:sp>
      <p:sp>
        <p:nvSpPr>
          <p:cNvPr id="26" name="Shape 23"/>
          <p:cNvSpPr/>
          <p:nvPr/>
        </p:nvSpPr>
        <p:spPr>
          <a:xfrm>
            <a:off x="7086600" y="2157984"/>
            <a:ext cx="3474720" cy="658368"/>
          </a:xfrm>
          <a:prstGeom prst="line">
            <a:avLst/>
          </a:prstGeom>
          <a:noFill/>
          <a:ln w="8890">
            <a:solidFill>
              <a:srgbClr val="B5C9C2">
                <a:alpha val="75000"/>
              </a:srgbClr>
            </a:solidFill>
            <a:prstDash val="solid"/>
          </a:ln>
        </p:spPr>
      </p:sp>
      <p:sp>
        <p:nvSpPr>
          <p:cNvPr id="27" name="Shape 24"/>
          <p:cNvSpPr/>
          <p:nvPr/>
        </p:nvSpPr>
        <p:spPr>
          <a:xfrm>
            <a:off x="4160520" y="2578608"/>
            <a:ext cx="2834640" cy="393192"/>
          </a:xfrm>
          <a:prstGeom prst="ellipse">
            <a:avLst/>
          </a:prstGeom>
          <a:solidFill>
            <a:srgbClr val="DFF3EC"/>
          </a:solidFill>
          <a:ln w="12700">
            <a:solidFill>
              <a:srgbClr val="BFE5D8"/>
            </a:solidFill>
            <a:prstDash val="solid"/>
          </a:ln>
        </p:spPr>
      </p:sp>
      <p:sp>
        <p:nvSpPr>
          <p:cNvPr id="28" name="Text 25"/>
          <p:cNvSpPr/>
          <p:nvPr/>
        </p:nvSpPr>
        <p:spPr>
          <a:xfrm>
            <a:off x="4297680" y="2702052"/>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Gestionare programări</a:t>
            </a:r>
            <a:endParaRPr lang="en-US" sz="980" dirty="0"/>
          </a:p>
        </p:txBody>
      </p:sp>
      <p:sp>
        <p:nvSpPr>
          <p:cNvPr id="29" name="Shape 26"/>
          <p:cNvSpPr/>
          <p:nvPr/>
        </p:nvSpPr>
        <p:spPr>
          <a:xfrm>
            <a:off x="1389888" y="2816352"/>
            <a:ext cx="2770632" cy="-45720"/>
          </a:xfrm>
          <a:prstGeom prst="line">
            <a:avLst/>
          </a:prstGeom>
          <a:noFill/>
          <a:ln w="8890">
            <a:solidFill>
              <a:srgbClr val="B5C9C2">
                <a:alpha val="75000"/>
              </a:srgbClr>
            </a:solidFill>
            <a:prstDash val="solid"/>
          </a:ln>
        </p:spPr>
      </p:sp>
      <p:sp>
        <p:nvSpPr>
          <p:cNvPr id="30" name="Shape 27"/>
          <p:cNvSpPr/>
          <p:nvPr/>
        </p:nvSpPr>
        <p:spPr>
          <a:xfrm>
            <a:off x="6995160" y="2770632"/>
            <a:ext cx="3566160" cy="45720"/>
          </a:xfrm>
          <a:prstGeom prst="line">
            <a:avLst/>
          </a:prstGeom>
          <a:noFill/>
          <a:ln w="8890">
            <a:solidFill>
              <a:srgbClr val="B5C9C2">
                <a:alpha val="75000"/>
              </a:srgbClr>
            </a:solidFill>
            <a:prstDash val="solid"/>
          </a:ln>
        </p:spPr>
      </p:sp>
      <p:sp>
        <p:nvSpPr>
          <p:cNvPr id="31" name="Shape 28"/>
          <p:cNvSpPr/>
          <p:nvPr/>
        </p:nvSpPr>
        <p:spPr>
          <a:xfrm>
            <a:off x="3886200" y="3191256"/>
            <a:ext cx="2834640" cy="393192"/>
          </a:xfrm>
          <a:prstGeom prst="ellipse">
            <a:avLst/>
          </a:prstGeom>
          <a:solidFill>
            <a:srgbClr val="EAF2FF"/>
          </a:solidFill>
          <a:ln w="12700">
            <a:solidFill>
              <a:srgbClr val="BFD8FF"/>
            </a:solidFill>
            <a:prstDash val="solid"/>
          </a:ln>
        </p:spPr>
      </p:sp>
      <p:sp>
        <p:nvSpPr>
          <p:cNvPr id="32" name="Text 29"/>
          <p:cNvSpPr/>
          <p:nvPr/>
        </p:nvSpPr>
        <p:spPr>
          <a:xfrm>
            <a:off x="4023360" y="3314700"/>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Fișă medicală / consultații</a:t>
            </a:r>
            <a:endParaRPr lang="en-US" sz="980" dirty="0"/>
          </a:p>
        </p:txBody>
      </p:sp>
      <p:sp>
        <p:nvSpPr>
          <p:cNvPr id="33" name="Shape 30"/>
          <p:cNvSpPr/>
          <p:nvPr/>
        </p:nvSpPr>
        <p:spPr>
          <a:xfrm>
            <a:off x="1389888" y="2816352"/>
            <a:ext cx="2496312" cy="566928"/>
          </a:xfrm>
          <a:prstGeom prst="line">
            <a:avLst/>
          </a:prstGeom>
          <a:noFill/>
          <a:ln w="8890">
            <a:solidFill>
              <a:srgbClr val="B5C9C2">
                <a:alpha val="75000"/>
              </a:srgbClr>
            </a:solidFill>
            <a:prstDash val="solid"/>
          </a:ln>
        </p:spPr>
      </p:sp>
      <p:sp>
        <p:nvSpPr>
          <p:cNvPr id="34" name="Shape 31"/>
          <p:cNvSpPr/>
          <p:nvPr/>
        </p:nvSpPr>
        <p:spPr>
          <a:xfrm>
            <a:off x="6720840" y="3383280"/>
            <a:ext cx="3840480" cy="-566928"/>
          </a:xfrm>
          <a:prstGeom prst="line">
            <a:avLst/>
          </a:prstGeom>
          <a:noFill/>
          <a:ln w="8890">
            <a:solidFill>
              <a:srgbClr val="B5C9C2">
                <a:alpha val="75000"/>
              </a:srgbClr>
            </a:solidFill>
            <a:prstDash val="solid"/>
          </a:ln>
        </p:spPr>
      </p:sp>
      <p:sp>
        <p:nvSpPr>
          <p:cNvPr id="35" name="Shape 32"/>
          <p:cNvSpPr/>
          <p:nvPr/>
        </p:nvSpPr>
        <p:spPr>
          <a:xfrm>
            <a:off x="4315968" y="3803904"/>
            <a:ext cx="2834640" cy="393192"/>
          </a:xfrm>
          <a:prstGeom prst="ellipse">
            <a:avLst/>
          </a:prstGeom>
          <a:solidFill>
            <a:srgbClr val="DFF3EC"/>
          </a:solidFill>
          <a:ln w="12700">
            <a:solidFill>
              <a:srgbClr val="BFE5D8"/>
            </a:solidFill>
            <a:prstDash val="solid"/>
          </a:ln>
        </p:spPr>
      </p:sp>
      <p:sp>
        <p:nvSpPr>
          <p:cNvPr id="36" name="Text 33"/>
          <p:cNvSpPr/>
          <p:nvPr/>
        </p:nvSpPr>
        <p:spPr>
          <a:xfrm>
            <a:off x="4453128" y="3927348"/>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Rețete și analize</a:t>
            </a:r>
            <a:endParaRPr lang="en-US" sz="980" dirty="0"/>
          </a:p>
        </p:txBody>
      </p:sp>
      <p:sp>
        <p:nvSpPr>
          <p:cNvPr id="37" name="Shape 34"/>
          <p:cNvSpPr/>
          <p:nvPr/>
        </p:nvSpPr>
        <p:spPr>
          <a:xfrm>
            <a:off x="1389888" y="2816352"/>
            <a:ext cx="2926080" cy="1179576"/>
          </a:xfrm>
          <a:prstGeom prst="line">
            <a:avLst/>
          </a:prstGeom>
          <a:noFill/>
          <a:ln w="8890">
            <a:solidFill>
              <a:srgbClr val="B5C9C2">
                <a:alpha val="75000"/>
              </a:srgbClr>
            </a:solidFill>
            <a:prstDash val="solid"/>
          </a:ln>
        </p:spPr>
      </p:sp>
      <p:sp>
        <p:nvSpPr>
          <p:cNvPr id="38" name="Shape 35"/>
          <p:cNvSpPr/>
          <p:nvPr/>
        </p:nvSpPr>
        <p:spPr>
          <a:xfrm>
            <a:off x="7150608" y="3995928"/>
            <a:ext cx="3410712" cy="-1179576"/>
          </a:xfrm>
          <a:prstGeom prst="line">
            <a:avLst/>
          </a:prstGeom>
          <a:noFill/>
          <a:ln w="8890">
            <a:solidFill>
              <a:srgbClr val="B5C9C2">
                <a:alpha val="75000"/>
              </a:srgbClr>
            </a:solidFill>
            <a:prstDash val="solid"/>
          </a:ln>
        </p:spPr>
      </p:sp>
      <p:sp>
        <p:nvSpPr>
          <p:cNvPr id="39" name="Shape 36"/>
          <p:cNvSpPr/>
          <p:nvPr/>
        </p:nvSpPr>
        <p:spPr>
          <a:xfrm>
            <a:off x="4069080" y="4416552"/>
            <a:ext cx="2834640" cy="393192"/>
          </a:xfrm>
          <a:prstGeom prst="ellipse">
            <a:avLst/>
          </a:prstGeom>
          <a:solidFill>
            <a:srgbClr val="EAF2FF"/>
          </a:solidFill>
          <a:ln w="12700">
            <a:solidFill>
              <a:srgbClr val="BFD8FF"/>
            </a:solidFill>
            <a:prstDash val="solid"/>
          </a:ln>
        </p:spPr>
      </p:sp>
      <p:sp>
        <p:nvSpPr>
          <p:cNvPr id="40" name="Text 37"/>
          <p:cNvSpPr/>
          <p:nvPr/>
        </p:nvSpPr>
        <p:spPr>
          <a:xfrm>
            <a:off x="4206240" y="4539996"/>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Mesagerie și notificări</a:t>
            </a:r>
            <a:endParaRPr lang="en-US" sz="980" dirty="0"/>
          </a:p>
        </p:txBody>
      </p:sp>
      <p:sp>
        <p:nvSpPr>
          <p:cNvPr id="41" name="Shape 38"/>
          <p:cNvSpPr/>
          <p:nvPr/>
        </p:nvSpPr>
        <p:spPr>
          <a:xfrm>
            <a:off x="1389888" y="2816352"/>
            <a:ext cx="2679192" cy="1792224"/>
          </a:xfrm>
          <a:prstGeom prst="line">
            <a:avLst/>
          </a:prstGeom>
          <a:noFill/>
          <a:ln w="8890">
            <a:solidFill>
              <a:srgbClr val="B5C9C2">
                <a:alpha val="75000"/>
              </a:srgbClr>
            </a:solidFill>
            <a:prstDash val="solid"/>
          </a:ln>
        </p:spPr>
      </p:sp>
      <p:sp>
        <p:nvSpPr>
          <p:cNvPr id="42" name="Shape 39"/>
          <p:cNvSpPr/>
          <p:nvPr/>
        </p:nvSpPr>
        <p:spPr>
          <a:xfrm>
            <a:off x="6903720" y="4608576"/>
            <a:ext cx="3657600" cy="-1792224"/>
          </a:xfrm>
          <a:prstGeom prst="line">
            <a:avLst/>
          </a:prstGeom>
          <a:noFill/>
          <a:ln w="8890">
            <a:solidFill>
              <a:srgbClr val="B5C9C2">
                <a:alpha val="75000"/>
              </a:srgbClr>
            </a:solidFill>
            <a:prstDash val="solid"/>
          </a:ln>
        </p:spPr>
      </p:sp>
      <p:sp>
        <p:nvSpPr>
          <p:cNvPr id="43" name="Shape 40"/>
          <p:cNvSpPr/>
          <p:nvPr/>
        </p:nvSpPr>
        <p:spPr>
          <a:xfrm>
            <a:off x="4069080" y="5029200"/>
            <a:ext cx="2834640" cy="393192"/>
          </a:xfrm>
          <a:prstGeom prst="ellipse">
            <a:avLst/>
          </a:prstGeom>
          <a:solidFill>
            <a:srgbClr val="DFF3EC"/>
          </a:solidFill>
          <a:ln w="12700">
            <a:solidFill>
              <a:srgbClr val="BFE5D8"/>
            </a:solidFill>
            <a:prstDash val="solid"/>
          </a:ln>
        </p:spPr>
      </p:sp>
      <p:sp>
        <p:nvSpPr>
          <p:cNvPr id="44" name="Text 41"/>
          <p:cNvSpPr/>
          <p:nvPr/>
        </p:nvSpPr>
        <p:spPr>
          <a:xfrm>
            <a:off x="4206240" y="5152644"/>
            <a:ext cx="2560320" cy="109728"/>
          </a:xfrm>
          <a:prstGeom prst="rect">
            <a:avLst/>
          </a:prstGeom>
          <a:noFill/>
          <a:ln/>
        </p:spPr>
        <p:txBody>
          <a:bodyPr wrap="square" lIns="0" tIns="0" rIns="0" bIns="0" rtlCol="0" anchor="ctr"/>
          <a:lstStyle/>
          <a:p>
            <a:pPr algn="ctr" indent="0" marL="0">
              <a:buNone/>
            </a:pPr>
            <a:r>
              <a:rPr lang="en-US" sz="980" b="1" dirty="0">
                <a:solidFill>
                  <a:srgbClr val="071524"/>
                </a:solidFill>
              </a:rPr>
              <a:t>Export rapoarte PDF/CSV</a:t>
            </a:r>
            <a:endParaRPr lang="en-US" sz="980" dirty="0"/>
          </a:p>
        </p:txBody>
      </p:sp>
      <p:sp>
        <p:nvSpPr>
          <p:cNvPr id="45" name="Shape 42"/>
          <p:cNvSpPr/>
          <p:nvPr/>
        </p:nvSpPr>
        <p:spPr>
          <a:xfrm>
            <a:off x="1389888" y="2816352"/>
            <a:ext cx="2679192" cy="2404872"/>
          </a:xfrm>
          <a:prstGeom prst="line">
            <a:avLst/>
          </a:prstGeom>
          <a:noFill/>
          <a:ln w="8890">
            <a:solidFill>
              <a:srgbClr val="B5C9C2">
                <a:alpha val="75000"/>
              </a:srgbClr>
            </a:solidFill>
            <a:prstDash val="solid"/>
          </a:ln>
        </p:spPr>
      </p:sp>
      <p:sp>
        <p:nvSpPr>
          <p:cNvPr id="46" name="Shape 43"/>
          <p:cNvSpPr/>
          <p:nvPr/>
        </p:nvSpPr>
        <p:spPr>
          <a:xfrm>
            <a:off x="6903720" y="5221224"/>
            <a:ext cx="3657600" cy="-2404872"/>
          </a:xfrm>
          <a:prstGeom prst="line">
            <a:avLst/>
          </a:prstGeom>
          <a:noFill/>
          <a:ln w="8890">
            <a:solidFill>
              <a:srgbClr val="B5C9C2">
                <a:alpha val="7500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STACK TEHNIC</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Tehnologiile utilizate</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06</a:t>
            </a:r>
            <a:endParaRPr lang="en-US" sz="650" dirty="0"/>
          </a:p>
        </p:txBody>
      </p:sp>
      <p:sp>
        <p:nvSpPr>
          <p:cNvPr id="7" name="Shape 4"/>
          <p:cNvSpPr/>
          <p:nvPr/>
        </p:nvSpPr>
        <p:spPr>
          <a:xfrm>
            <a:off x="658368" y="1417320"/>
            <a:ext cx="3337560" cy="987552"/>
          </a:xfrm>
          <a:prstGeom prst="roundRect">
            <a:avLst>
              <a:gd name="adj" fmla="val 7407"/>
            </a:avLst>
          </a:prstGeom>
          <a:solidFill>
            <a:srgbClr val="FFFFFF"/>
          </a:solidFill>
          <a:ln w="12700">
            <a:solidFill>
              <a:srgbClr val="D9E7E2"/>
            </a:solidFill>
            <a:prstDash val="solid"/>
          </a:ln>
        </p:spPr>
      </p:sp>
      <p:sp>
        <p:nvSpPr>
          <p:cNvPr id="8" name="Text 5"/>
          <p:cNvSpPr/>
          <p:nvPr/>
        </p:nvSpPr>
        <p:spPr>
          <a:xfrm>
            <a:off x="886968" y="161848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C# / .NET 8</a:t>
            </a:r>
            <a:endParaRPr lang="en-US" sz="1400" dirty="0"/>
          </a:p>
        </p:txBody>
      </p:sp>
      <p:sp>
        <p:nvSpPr>
          <p:cNvPr id="9" name="Text 6"/>
          <p:cNvSpPr/>
          <p:nvPr/>
        </p:nvSpPr>
        <p:spPr>
          <a:xfrm>
            <a:off x="886968" y="192024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limbaj și runtime principal</a:t>
            </a:r>
            <a:endParaRPr lang="en-US" sz="1080" dirty="0"/>
          </a:p>
        </p:txBody>
      </p:sp>
      <p:sp>
        <p:nvSpPr>
          <p:cNvPr id="10" name="Shape 7"/>
          <p:cNvSpPr/>
          <p:nvPr/>
        </p:nvSpPr>
        <p:spPr>
          <a:xfrm>
            <a:off x="4453128" y="1417320"/>
            <a:ext cx="3337560" cy="987552"/>
          </a:xfrm>
          <a:prstGeom prst="roundRect">
            <a:avLst>
              <a:gd name="adj" fmla="val 7407"/>
            </a:avLst>
          </a:prstGeom>
          <a:solidFill>
            <a:srgbClr val="FFFFFF"/>
          </a:solidFill>
          <a:ln w="12700">
            <a:solidFill>
              <a:srgbClr val="D9E7E2"/>
            </a:solidFill>
            <a:prstDash val="solid"/>
          </a:ln>
        </p:spPr>
      </p:sp>
      <p:sp>
        <p:nvSpPr>
          <p:cNvPr id="11" name="Text 8"/>
          <p:cNvSpPr/>
          <p:nvPr/>
        </p:nvSpPr>
        <p:spPr>
          <a:xfrm>
            <a:off x="4681728" y="161848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WPF</a:t>
            </a:r>
            <a:endParaRPr lang="en-US" sz="1400" dirty="0"/>
          </a:p>
        </p:txBody>
      </p:sp>
      <p:sp>
        <p:nvSpPr>
          <p:cNvPr id="12" name="Text 9"/>
          <p:cNvSpPr/>
          <p:nvPr/>
        </p:nvSpPr>
        <p:spPr>
          <a:xfrm>
            <a:off x="4681728" y="192024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interfață desktop pentru Windows</a:t>
            </a:r>
            <a:endParaRPr lang="en-US" sz="1080" dirty="0"/>
          </a:p>
        </p:txBody>
      </p:sp>
      <p:sp>
        <p:nvSpPr>
          <p:cNvPr id="13" name="Shape 10"/>
          <p:cNvSpPr/>
          <p:nvPr/>
        </p:nvSpPr>
        <p:spPr>
          <a:xfrm>
            <a:off x="8247888" y="1417320"/>
            <a:ext cx="3337560" cy="987552"/>
          </a:xfrm>
          <a:prstGeom prst="roundRect">
            <a:avLst>
              <a:gd name="adj" fmla="val 7407"/>
            </a:avLst>
          </a:prstGeom>
          <a:solidFill>
            <a:srgbClr val="FFFFFF"/>
          </a:solidFill>
          <a:ln w="12700">
            <a:solidFill>
              <a:srgbClr val="D9E7E2"/>
            </a:solidFill>
            <a:prstDash val="solid"/>
          </a:ln>
        </p:spPr>
      </p:sp>
      <p:sp>
        <p:nvSpPr>
          <p:cNvPr id="14" name="Text 11"/>
          <p:cNvSpPr/>
          <p:nvPr/>
        </p:nvSpPr>
        <p:spPr>
          <a:xfrm>
            <a:off x="8476488" y="161848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MVVM</a:t>
            </a:r>
            <a:endParaRPr lang="en-US" sz="1400" dirty="0"/>
          </a:p>
        </p:txBody>
      </p:sp>
      <p:sp>
        <p:nvSpPr>
          <p:cNvPr id="15" name="Text 12"/>
          <p:cNvSpPr/>
          <p:nvPr/>
        </p:nvSpPr>
        <p:spPr>
          <a:xfrm>
            <a:off x="8476488" y="192024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separarea logicii UI de date</a:t>
            </a:r>
            <a:endParaRPr lang="en-US" sz="1080" dirty="0"/>
          </a:p>
        </p:txBody>
      </p:sp>
      <p:sp>
        <p:nvSpPr>
          <p:cNvPr id="16" name="Shape 13"/>
          <p:cNvSpPr/>
          <p:nvPr/>
        </p:nvSpPr>
        <p:spPr>
          <a:xfrm>
            <a:off x="658368" y="2743200"/>
            <a:ext cx="3337560" cy="987552"/>
          </a:xfrm>
          <a:prstGeom prst="roundRect">
            <a:avLst>
              <a:gd name="adj" fmla="val 7407"/>
            </a:avLst>
          </a:prstGeom>
          <a:solidFill>
            <a:srgbClr val="FFFFFF"/>
          </a:solidFill>
          <a:ln w="12700">
            <a:solidFill>
              <a:srgbClr val="D9E7E2"/>
            </a:solidFill>
            <a:prstDash val="solid"/>
          </a:ln>
        </p:spPr>
      </p:sp>
      <p:sp>
        <p:nvSpPr>
          <p:cNvPr id="17" name="Text 14"/>
          <p:cNvSpPr/>
          <p:nvPr/>
        </p:nvSpPr>
        <p:spPr>
          <a:xfrm>
            <a:off x="886968" y="294436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MySQL</a:t>
            </a:r>
            <a:endParaRPr lang="en-US" sz="1400" dirty="0"/>
          </a:p>
        </p:txBody>
      </p:sp>
      <p:sp>
        <p:nvSpPr>
          <p:cNvPr id="18" name="Text 15"/>
          <p:cNvSpPr/>
          <p:nvPr/>
        </p:nvSpPr>
        <p:spPr>
          <a:xfrm>
            <a:off x="886968" y="324612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persistență pentru utilizatori, programări, fișe</a:t>
            </a:r>
            <a:endParaRPr lang="en-US" sz="1080" dirty="0"/>
          </a:p>
        </p:txBody>
      </p:sp>
      <p:sp>
        <p:nvSpPr>
          <p:cNvPr id="19" name="Shape 16"/>
          <p:cNvSpPr/>
          <p:nvPr/>
        </p:nvSpPr>
        <p:spPr>
          <a:xfrm>
            <a:off x="4453128" y="2743200"/>
            <a:ext cx="3337560" cy="987552"/>
          </a:xfrm>
          <a:prstGeom prst="roundRect">
            <a:avLst>
              <a:gd name="adj" fmla="val 7407"/>
            </a:avLst>
          </a:prstGeom>
          <a:solidFill>
            <a:srgbClr val="FFFFFF"/>
          </a:solidFill>
          <a:ln w="12700">
            <a:solidFill>
              <a:srgbClr val="D9E7E2"/>
            </a:solidFill>
            <a:prstDash val="solid"/>
          </a:ln>
        </p:spPr>
      </p:sp>
      <p:sp>
        <p:nvSpPr>
          <p:cNvPr id="20" name="Text 17"/>
          <p:cNvSpPr/>
          <p:nvPr/>
        </p:nvSpPr>
        <p:spPr>
          <a:xfrm>
            <a:off x="4681728" y="294436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Visual Studio / CLI</a:t>
            </a:r>
            <a:endParaRPr lang="en-US" sz="1400" dirty="0"/>
          </a:p>
        </p:txBody>
      </p:sp>
      <p:sp>
        <p:nvSpPr>
          <p:cNvPr id="21" name="Text 18"/>
          <p:cNvSpPr/>
          <p:nvPr/>
        </p:nvSpPr>
        <p:spPr>
          <a:xfrm>
            <a:off x="4681728" y="324612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dezvoltare, build și rulare</a:t>
            </a:r>
            <a:endParaRPr lang="en-US" sz="1080" dirty="0"/>
          </a:p>
        </p:txBody>
      </p:sp>
      <p:sp>
        <p:nvSpPr>
          <p:cNvPr id="22" name="Shape 19"/>
          <p:cNvSpPr/>
          <p:nvPr/>
        </p:nvSpPr>
        <p:spPr>
          <a:xfrm>
            <a:off x="8247888" y="2743200"/>
            <a:ext cx="3337560" cy="987552"/>
          </a:xfrm>
          <a:prstGeom prst="roundRect">
            <a:avLst>
              <a:gd name="adj" fmla="val 7407"/>
            </a:avLst>
          </a:prstGeom>
          <a:solidFill>
            <a:srgbClr val="FFFFFF"/>
          </a:solidFill>
          <a:ln w="12700">
            <a:solidFill>
              <a:srgbClr val="D9E7E2"/>
            </a:solidFill>
            <a:prstDash val="solid"/>
          </a:ln>
        </p:spPr>
      </p:sp>
      <p:sp>
        <p:nvSpPr>
          <p:cNvPr id="23" name="Text 20"/>
          <p:cNvSpPr/>
          <p:nvPr/>
        </p:nvSpPr>
        <p:spPr>
          <a:xfrm>
            <a:off x="8476488" y="2944368"/>
            <a:ext cx="2560320" cy="164592"/>
          </a:xfrm>
          <a:prstGeom prst="rect">
            <a:avLst/>
          </a:prstGeom>
          <a:noFill/>
          <a:ln/>
        </p:spPr>
        <p:txBody>
          <a:bodyPr wrap="square" lIns="0" tIns="0" rIns="0" bIns="0" rtlCol="0" anchor="ctr"/>
          <a:lstStyle/>
          <a:p>
            <a:pPr indent="0" marL="0">
              <a:buNone/>
            </a:pPr>
            <a:r>
              <a:rPr lang="en-US" sz="1400" b="1" dirty="0">
                <a:solidFill>
                  <a:srgbClr val="0F7B62"/>
                </a:solidFill>
              </a:rPr>
              <a:t>Git + GitHub</a:t>
            </a:r>
            <a:endParaRPr lang="en-US" sz="1400" dirty="0"/>
          </a:p>
        </p:txBody>
      </p:sp>
      <p:sp>
        <p:nvSpPr>
          <p:cNvPr id="24" name="Text 21"/>
          <p:cNvSpPr/>
          <p:nvPr/>
        </p:nvSpPr>
        <p:spPr>
          <a:xfrm>
            <a:off x="8476488" y="3246120"/>
            <a:ext cx="2834640" cy="228600"/>
          </a:xfrm>
          <a:prstGeom prst="rect">
            <a:avLst/>
          </a:prstGeom>
          <a:noFill/>
          <a:ln/>
        </p:spPr>
        <p:txBody>
          <a:bodyPr wrap="square" lIns="762" tIns="762" rIns="762" bIns="762" rtlCol="0" anchor="ctr">
            <a:normAutofit/>
          </a:bodyPr>
          <a:lstStyle/>
          <a:p>
            <a:pPr indent="0" marL="0">
              <a:buNone/>
            </a:pPr>
            <a:r>
              <a:rPr lang="en-US" sz="1080" dirty="0">
                <a:solidFill>
                  <a:srgbClr val="6B7C86"/>
                </a:solidFill>
                <a:latin typeface="Aptos" pitchFamily="34" charset="0"/>
                <a:ea typeface="Aptos" pitchFamily="34" charset="-122"/>
                <a:cs typeface="Aptos" pitchFamily="34" charset="-120"/>
              </a:rPr>
              <a:t>versionare și istoric de lucru</a:t>
            </a:r>
            <a:endParaRPr lang="en-US" sz="1080" dirty="0"/>
          </a:p>
        </p:txBody>
      </p:sp>
      <p:sp>
        <p:nvSpPr>
          <p:cNvPr id="25" name="Shape 22"/>
          <p:cNvSpPr/>
          <p:nvPr/>
        </p:nvSpPr>
        <p:spPr>
          <a:xfrm>
            <a:off x="1115568" y="4663440"/>
            <a:ext cx="9966960" cy="658368"/>
          </a:xfrm>
          <a:prstGeom prst="roundRect">
            <a:avLst>
              <a:gd name="adj" fmla="val 11111"/>
            </a:avLst>
          </a:prstGeom>
          <a:solidFill>
            <a:srgbClr val="08243A"/>
          </a:solidFill>
          <a:ln w="12700">
            <a:solidFill>
              <a:srgbClr val="08243A"/>
            </a:solidFill>
            <a:prstDash val="solid"/>
          </a:ln>
        </p:spPr>
      </p:sp>
      <p:sp>
        <p:nvSpPr>
          <p:cNvPr id="26" name="Text 23"/>
          <p:cNvSpPr/>
          <p:nvPr/>
        </p:nvSpPr>
        <p:spPr>
          <a:xfrm>
            <a:off x="1417320" y="4882896"/>
            <a:ext cx="9235440" cy="164592"/>
          </a:xfrm>
          <a:prstGeom prst="rect">
            <a:avLst/>
          </a:prstGeom>
          <a:noFill/>
          <a:ln/>
        </p:spPr>
        <p:txBody>
          <a:bodyPr wrap="square" lIns="0" tIns="0" rIns="0" bIns="0" rtlCol="0" anchor="ctr"/>
          <a:lstStyle/>
          <a:p>
            <a:pPr indent="0" marL="0">
              <a:buNone/>
            </a:pPr>
            <a:r>
              <a:rPr lang="en-US" sz="1500" b="1" dirty="0">
                <a:solidFill>
                  <a:srgbClr val="FFFFFF"/>
                </a:solidFill>
              </a:rPr>
              <a:t>Arhitectură pe straturi: UI (WPF)  →  Business Services  →  Repositories  →  MySQL</a:t>
            </a:r>
            <a:endParaRPr lang="en-US" sz="1500" dirty="0"/>
          </a:p>
        </p:txBody>
      </p:sp>
      <p:sp>
        <p:nvSpPr>
          <p:cNvPr id="27" name="Text 24"/>
          <p:cNvSpPr/>
          <p:nvPr/>
        </p:nvSpPr>
        <p:spPr>
          <a:xfrm>
            <a:off x="1143000" y="5596128"/>
            <a:ext cx="9875520" cy="329184"/>
          </a:xfrm>
          <a:prstGeom prst="rect">
            <a:avLst/>
          </a:prstGeom>
          <a:noFill/>
          <a:ln/>
        </p:spPr>
        <p:txBody>
          <a:bodyPr wrap="square" lIns="762" tIns="762" rIns="762" bIns="762" rtlCol="0" anchor="ctr">
            <a:normAutofit/>
          </a:bodyPr>
          <a:lstStyle/>
          <a:p>
            <a:pPr indent="0" marL="0">
              <a:buNone/>
            </a:pPr>
            <a:r>
              <a:rPr lang="en-US" sz="1200" dirty="0">
                <a:solidFill>
                  <a:srgbClr val="6B7C86"/>
                </a:solidFill>
                <a:latin typeface="Aptos" pitchFamily="34" charset="0"/>
                <a:ea typeface="Aptos" pitchFamily="34" charset="-122"/>
                <a:cs typeface="Aptos" pitchFamily="34" charset="-120"/>
              </a:rPr>
              <a:t>Această separare face codul mai ușor de extins: de exemplu, exportul PDF și notificările au fost adăugate fără rescrierea fluxurilor principale.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VERSIONARE</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Activitatea de pe GitHub</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07</a:t>
            </a:r>
            <a:endParaRPr lang="en-US" sz="650" dirty="0"/>
          </a:p>
        </p:txBody>
      </p:sp>
      <p:sp>
        <p:nvSpPr>
          <p:cNvPr id="7" name="Shape 4"/>
          <p:cNvSpPr/>
          <p:nvPr/>
        </p:nvSpPr>
        <p:spPr>
          <a:xfrm>
            <a:off x="658368" y="1335024"/>
            <a:ext cx="6583680" cy="4526280"/>
          </a:xfrm>
          <a:prstGeom prst="roundRect">
            <a:avLst>
              <a:gd name="adj" fmla="val 1616"/>
            </a:avLst>
          </a:prstGeom>
          <a:solidFill>
            <a:srgbClr val="0D1117"/>
          </a:solidFill>
          <a:ln w="12700">
            <a:solidFill>
              <a:srgbClr val="30363D"/>
            </a:solidFill>
            <a:prstDash val="solid"/>
          </a:ln>
        </p:spPr>
      </p:sp>
      <p:sp>
        <p:nvSpPr>
          <p:cNvPr id="8" name="Text 5"/>
          <p:cNvSpPr/>
          <p:nvPr/>
        </p:nvSpPr>
        <p:spPr>
          <a:xfrm>
            <a:off x="960120" y="1664208"/>
            <a:ext cx="5303520" cy="164592"/>
          </a:xfrm>
          <a:prstGeom prst="rect">
            <a:avLst/>
          </a:prstGeom>
          <a:noFill/>
          <a:ln/>
        </p:spPr>
        <p:txBody>
          <a:bodyPr wrap="square" lIns="0" tIns="0" rIns="0" bIns="0" rtlCol="0" anchor="ctr"/>
          <a:lstStyle/>
          <a:p>
            <a:pPr indent="0" marL="0">
              <a:buNone/>
            </a:pPr>
            <a:r>
              <a:rPr lang="en-US" sz="1300" b="1" dirty="0">
                <a:solidFill>
                  <a:srgbClr val="FFFFFF"/>
                </a:solidFill>
              </a:rPr>
              <a:t>github.com/Mariuswarboss/Medclin</a:t>
            </a:r>
            <a:endParaRPr lang="en-US" sz="1300" dirty="0"/>
          </a:p>
        </p:txBody>
      </p:sp>
      <p:sp>
        <p:nvSpPr>
          <p:cNvPr id="9" name="Text 6"/>
          <p:cNvSpPr/>
          <p:nvPr/>
        </p:nvSpPr>
        <p:spPr>
          <a:xfrm>
            <a:off x="960120" y="1956816"/>
            <a:ext cx="5669280" cy="164592"/>
          </a:xfrm>
          <a:prstGeom prst="rect">
            <a:avLst/>
          </a:prstGeom>
          <a:noFill/>
          <a:ln/>
        </p:spPr>
        <p:txBody>
          <a:bodyPr wrap="square" lIns="0" tIns="0" rIns="0" bIns="0" rtlCol="0" anchor="ctr"/>
          <a:lstStyle/>
          <a:p>
            <a:pPr indent="0" marL="0">
              <a:buNone/>
            </a:pPr>
            <a:r>
              <a:rPr lang="en-US" sz="870" dirty="0">
                <a:solidFill>
                  <a:srgbClr val="8B949E"/>
                </a:solidFill>
              </a:rPr>
              <a:t>https://github.com/Mariuswarboss/Medclin.git</a:t>
            </a:r>
            <a:endParaRPr lang="en-US" sz="870" dirty="0"/>
          </a:p>
        </p:txBody>
      </p:sp>
      <p:sp>
        <p:nvSpPr>
          <p:cNvPr id="10" name="Shape 7"/>
          <p:cNvSpPr/>
          <p:nvPr/>
        </p:nvSpPr>
        <p:spPr>
          <a:xfrm>
            <a:off x="969264" y="2468880"/>
            <a:ext cx="109728" cy="109728"/>
          </a:xfrm>
          <a:prstGeom prst="ellipse">
            <a:avLst/>
          </a:prstGeom>
          <a:solidFill>
            <a:srgbClr val="1BB58A"/>
          </a:solidFill>
          <a:ln w="12700">
            <a:solidFill>
              <a:srgbClr val="1BB58A"/>
            </a:solidFill>
            <a:prstDash val="solid"/>
          </a:ln>
        </p:spPr>
      </p:sp>
      <p:sp>
        <p:nvSpPr>
          <p:cNvPr id="11" name="Text 8"/>
          <p:cNvSpPr/>
          <p:nvPr/>
        </p:nvSpPr>
        <p:spPr>
          <a:xfrm>
            <a:off x="1225296" y="2441448"/>
            <a:ext cx="5394960" cy="146304"/>
          </a:xfrm>
          <a:prstGeom prst="rect">
            <a:avLst/>
          </a:prstGeom>
          <a:noFill/>
          <a:ln/>
        </p:spPr>
        <p:txBody>
          <a:bodyPr wrap="square" lIns="0" tIns="0" rIns="0" bIns="0" rtlCol="0" anchor="ctr">
            <a:normAutofit/>
          </a:bodyPr>
          <a:lstStyle/>
          <a:p>
            <a:pPr indent="0" marL="0">
              <a:buNone/>
            </a:pPr>
            <a:r>
              <a:rPr lang="en-US" sz="920" dirty="0">
                <a:solidFill>
                  <a:srgbClr val="E6EDF3"/>
                </a:solidFill>
              </a:rPr>
              <a:t>d2f2514 Fisa medicala</a:t>
            </a:r>
            <a:endParaRPr lang="en-US" sz="920" dirty="0"/>
          </a:p>
        </p:txBody>
      </p:sp>
      <p:sp>
        <p:nvSpPr>
          <p:cNvPr id="12" name="Shape 9"/>
          <p:cNvSpPr/>
          <p:nvPr/>
        </p:nvSpPr>
        <p:spPr>
          <a:xfrm>
            <a:off x="969264" y="2944368"/>
            <a:ext cx="109728" cy="109728"/>
          </a:xfrm>
          <a:prstGeom prst="ellipse">
            <a:avLst/>
          </a:prstGeom>
          <a:solidFill>
            <a:srgbClr val="1BB58A"/>
          </a:solidFill>
          <a:ln w="12700">
            <a:solidFill>
              <a:srgbClr val="1BB58A"/>
            </a:solidFill>
            <a:prstDash val="solid"/>
          </a:ln>
        </p:spPr>
      </p:sp>
      <p:sp>
        <p:nvSpPr>
          <p:cNvPr id="13" name="Text 10"/>
          <p:cNvSpPr/>
          <p:nvPr/>
        </p:nvSpPr>
        <p:spPr>
          <a:xfrm>
            <a:off x="1225296" y="2916936"/>
            <a:ext cx="5394960" cy="146304"/>
          </a:xfrm>
          <a:prstGeom prst="rect">
            <a:avLst/>
          </a:prstGeom>
          <a:noFill/>
          <a:ln/>
        </p:spPr>
        <p:txBody>
          <a:bodyPr wrap="square" lIns="0" tIns="0" rIns="0" bIns="0" rtlCol="0" anchor="ctr">
            <a:normAutofit/>
          </a:bodyPr>
          <a:lstStyle/>
          <a:p>
            <a:pPr indent="0" marL="0">
              <a:buNone/>
            </a:pPr>
            <a:r>
              <a:rPr lang="en-US" sz="920" dirty="0">
                <a:solidFill>
                  <a:srgbClr val="E6EDF3"/>
                </a:solidFill>
              </a:rPr>
              <a:t>e037ac3 Fixarea la programari si la fisa medicala</a:t>
            </a:r>
            <a:endParaRPr lang="en-US" sz="920" dirty="0"/>
          </a:p>
        </p:txBody>
      </p:sp>
      <p:sp>
        <p:nvSpPr>
          <p:cNvPr id="14" name="Shape 11"/>
          <p:cNvSpPr/>
          <p:nvPr/>
        </p:nvSpPr>
        <p:spPr>
          <a:xfrm>
            <a:off x="969264" y="3419856"/>
            <a:ext cx="109728" cy="109728"/>
          </a:xfrm>
          <a:prstGeom prst="ellipse">
            <a:avLst/>
          </a:prstGeom>
          <a:solidFill>
            <a:srgbClr val="1BB58A"/>
          </a:solidFill>
          <a:ln w="12700">
            <a:solidFill>
              <a:srgbClr val="1BB58A"/>
            </a:solidFill>
            <a:prstDash val="solid"/>
          </a:ln>
        </p:spPr>
      </p:sp>
      <p:sp>
        <p:nvSpPr>
          <p:cNvPr id="15" name="Text 12"/>
          <p:cNvSpPr/>
          <p:nvPr/>
        </p:nvSpPr>
        <p:spPr>
          <a:xfrm>
            <a:off x="1225296" y="3392424"/>
            <a:ext cx="5394960" cy="146304"/>
          </a:xfrm>
          <a:prstGeom prst="rect">
            <a:avLst/>
          </a:prstGeom>
          <a:noFill/>
          <a:ln/>
        </p:spPr>
        <p:txBody>
          <a:bodyPr wrap="square" lIns="0" tIns="0" rIns="0" bIns="0" rtlCol="0" anchor="ctr">
            <a:normAutofit/>
          </a:bodyPr>
          <a:lstStyle/>
          <a:p>
            <a:pPr indent="0" marL="0">
              <a:buNone/>
            </a:pPr>
            <a:r>
              <a:rPr lang="en-US" sz="920" dirty="0">
                <a:solidFill>
                  <a:srgbClr val="E6EDF3"/>
                </a:solidFill>
              </a:rPr>
              <a:t>b5b53ca Test intreg la aplicatie browski</a:t>
            </a:r>
            <a:endParaRPr lang="en-US" sz="920" dirty="0"/>
          </a:p>
        </p:txBody>
      </p:sp>
      <p:sp>
        <p:nvSpPr>
          <p:cNvPr id="16" name="Shape 13"/>
          <p:cNvSpPr/>
          <p:nvPr/>
        </p:nvSpPr>
        <p:spPr>
          <a:xfrm>
            <a:off x="969264" y="3895344"/>
            <a:ext cx="109728" cy="109728"/>
          </a:xfrm>
          <a:prstGeom prst="ellipse">
            <a:avLst/>
          </a:prstGeom>
          <a:solidFill>
            <a:srgbClr val="1BB58A"/>
          </a:solidFill>
          <a:ln w="12700">
            <a:solidFill>
              <a:srgbClr val="1BB58A"/>
            </a:solidFill>
            <a:prstDash val="solid"/>
          </a:ln>
        </p:spPr>
      </p:sp>
      <p:sp>
        <p:nvSpPr>
          <p:cNvPr id="17" name="Text 14"/>
          <p:cNvSpPr/>
          <p:nvPr/>
        </p:nvSpPr>
        <p:spPr>
          <a:xfrm>
            <a:off x="1225296" y="3867912"/>
            <a:ext cx="5394960" cy="146304"/>
          </a:xfrm>
          <a:prstGeom prst="rect">
            <a:avLst/>
          </a:prstGeom>
          <a:noFill/>
          <a:ln/>
        </p:spPr>
        <p:txBody>
          <a:bodyPr wrap="square" lIns="0" tIns="0" rIns="0" bIns="0" rtlCol="0" anchor="ctr">
            <a:normAutofit/>
          </a:bodyPr>
          <a:lstStyle/>
          <a:p>
            <a:pPr indent="0" marL="0">
              <a:buNone/>
            </a:pPr>
            <a:r>
              <a:rPr lang="en-US" sz="920" dirty="0">
                <a:solidFill>
                  <a:srgbClr val="E6EDF3"/>
                </a:solidFill>
              </a:rPr>
              <a:t>8d8924b Primul test de la aplicatie</a:t>
            </a:r>
            <a:endParaRPr lang="en-US" sz="920" dirty="0"/>
          </a:p>
        </p:txBody>
      </p:sp>
      <p:sp>
        <p:nvSpPr>
          <p:cNvPr id="18" name="Shape 15"/>
          <p:cNvSpPr/>
          <p:nvPr/>
        </p:nvSpPr>
        <p:spPr>
          <a:xfrm>
            <a:off x="969264" y="4370832"/>
            <a:ext cx="109728" cy="109728"/>
          </a:xfrm>
          <a:prstGeom prst="ellipse">
            <a:avLst/>
          </a:prstGeom>
          <a:solidFill>
            <a:srgbClr val="1BB58A"/>
          </a:solidFill>
          <a:ln w="12700">
            <a:solidFill>
              <a:srgbClr val="1BB58A"/>
            </a:solidFill>
            <a:prstDash val="solid"/>
          </a:ln>
        </p:spPr>
      </p:sp>
      <p:sp>
        <p:nvSpPr>
          <p:cNvPr id="19" name="Text 16"/>
          <p:cNvSpPr/>
          <p:nvPr/>
        </p:nvSpPr>
        <p:spPr>
          <a:xfrm>
            <a:off x="1225296" y="4343400"/>
            <a:ext cx="5394960" cy="146304"/>
          </a:xfrm>
          <a:prstGeom prst="rect">
            <a:avLst/>
          </a:prstGeom>
          <a:noFill/>
          <a:ln/>
        </p:spPr>
        <p:txBody>
          <a:bodyPr wrap="square" lIns="0" tIns="0" rIns="0" bIns="0" rtlCol="0" anchor="ctr">
            <a:normAutofit/>
          </a:bodyPr>
          <a:lstStyle/>
          <a:p>
            <a:pPr indent="0" marL="0">
              <a:buNone/>
            </a:pPr>
            <a:r>
              <a:rPr lang="en-US" sz="920" dirty="0">
                <a:solidFill>
                  <a:srgbClr val="E6EDF3"/>
                </a:solidFill>
              </a:rPr>
              <a:t>c8104f5 Initial commit - structura proiect</a:t>
            </a:r>
            <a:endParaRPr lang="en-US" sz="920" dirty="0"/>
          </a:p>
        </p:txBody>
      </p:sp>
      <p:sp>
        <p:nvSpPr>
          <p:cNvPr id="20" name="Shape 17"/>
          <p:cNvSpPr/>
          <p:nvPr/>
        </p:nvSpPr>
        <p:spPr>
          <a:xfrm>
            <a:off x="7635240" y="1335024"/>
            <a:ext cx="3611880" cy="1051560"/>
          </a:xfrm>
          <a:prstGeom prst="roundRect">
            <a:avLst>
              <a:gd name="adj" fmla="val 6957"/>
            </a:avLst>
          </a:prstGeom>
          <a:solidFill>
            <a:srgbClr val="FFFFFF"/>
          </a:solidFill>
          <a:ln w="12700">
            <a:solidFill>
              <a:srgbClr val="D9E7E2"/>
            </a:solidFill>
            <a:prstDash val="solid"/>
          </a:ln>
        </p:spPr>
      </p:sp>
      <p:sp>
        <p:nvSpPr>
          <p:cNvPr id="21" name="Text 18"/>
          <p:cNvSpPr/>
          <p:nvPr/>
        </p:nvSpPr>
        <p:spPr>
          <a:xfrm>
            <a:off x="7936992" y="1591056"/>
            <a:ext cx="1920240" cy="164592"/>
          </a:xfrm>
          <a:prstGeom prst="rect">
            <a:avLst/>
          </a:prstGeom>
          <a:noFill/>
          <a:ln/>
        </p:spPr>
        <p:txBody>
          <a:bodyPr wrap="square" lIns="762" tIns="762" rIns="762" bIns="762" rtlCol="0" anchor="ctr">
            <a:normAutofit/>
          </a:bodyPr>
          <a:lstStyle/>
          <a:p>
            <a:pPr indent="0" marL="0">
              <a:buNone/>
            </a:pPr>
            <a:r>
              <a:rPr lang="en-US" sz="1400" b="1" dirty="0">
                <a:solidFill>
                  <a:srgbClr val="071524"/>
                </a:solidFill>
                <a:latin typeface="Aptos" pitchFamily="34" charset="0"/>
                <a:ea typeface="Aptos" pitchFamily="34" charset="-122"/>
                <a:cs typeface="Aptos" pitchFamily="34" charset="-120"/>
              </a:rPr>
              <a:t>Captura reală</a:t>
            </a:r>
            <a:endParaRPr lang="en-US" sz="1400" dirty="0"/>
          </a:p>
        </p:txBody>
      </p:sp>
      <p:sp>
        <p:nvSpPr>
          <p:cNvPr id="22" name="Text 19"/>
          <p:cNvSpPr/>
          <p:nvPr/>
        </p:nvSpPr>
        <p:spPr>
          <a:xfrm>
            <a:off x="7936992" y="1856232"/>
            <a:ext cx="2834640" cy="25603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Înlocuiește acest panou cu screenshot-ul din GitHub dacă vrei dovada vizuală exactă.</a:t>
            </a:r>
            <a:endParaRPr lang="en-US" sz="1050" dirty="0"/>
          </a:p>
        </p:txBody>
      </p:sp>
      <p:sp>
        <p:nvSpPr>
          <p:cNvPr id="23" name="Shape 20"/>
          <p:cNvSpPr/>
          <p:nvPr/>
        </p:nvSpPr>
        <p:spPr>
          <a:xfrm>
            <a:off x="7635240" y="2651760"/>
            <a:ext cx="3611880" cy="1051560"/>
          </a:xfrm>
          <a:prstGeom prst="roundRect">
            <a:avLst>
              <a:gd name="adj" fmla="val 6957"/>
            </a:avLst>
          </a:prstGeom>
          <a:solidFill>
            <a:srgbClr val="FFFFFF"/>
          </a:solidFill>
          <a:ln w="12700">
            <a:solidFill>
              <a:srgbClr val="D9E7E2"/>
            </a:solidFill>
            <a:prstDash val="solid"/>
          </a:ln>
        </p:spPr>
      </p:sp>
      <p:sp>
        <p:nvSpPr>
          <p:cNvPr id="24" name="Text 21"/>
          <p:cNvSpPr/>
          <p:nvPr/>
        </p:nvSpPr>
        <p:spPr>
          <a:xfrm>
            <a:off x="7936992" y="2907792"/>
            <a:ext cx="1463040" cy="164592"/>
          </a:xfrm>
          <a:prstGeom prst="rect">
            <a:avLst/>
          </a:prstGeom>
          <a:noFill/>
          <a:ln/>
        </p:spPr>
        <p:txBody>
          <a:bodyPr wrap="square" lIns="762" tIns="762" rIns="762" bIns="762" rtlCol="0" anchor="ctr">
            <a:normAutofit/>
          </a:bodyPr>
          <a:lstStyle/>
          <a:p>
            <a:pPr indent="0" marL="0">
              <a:buNone/>
            </a:pPr>
            <a:r>
              <a:rPr lang="en-US" sz="1400" b="1" dirty="0">
                <a:solidFill>
                  <a:srgbClr val="071524"/>
                </a:solidFill>
                <a:latin typeface="Aptos" pitchFamily="34" charset="0"/>
                <a:ea typeface="Aptos" pitchFamily="34" charset="-122"/>
                <a:cs typeface="Aptos" pitchFamily="34" charset="-120"/>
              </a:rPr>
              <a:t>Repository</a:t>
            </a:r>
            <a:endParaRPr lang="en-US" sz="1400" dirty="0"/>
          </a:p>
        </p:txBody>
      </p:sp>
      <p:sp>
        <p:nvSpPr>
          <p:cNvPr id="25" name="Text 22"/>
          <p:cNvSpPr/>
          <p:nvPr/>
        </p:nvSpPr>
        <p:spPr>
          <a:xfrm>
            <a:off x="7936992" y="3182112"/>
            <a:ext cx="2651760" cy="164592"/>
          </a:xfrm>
          <a:prstGeom prst="rect">
            <a:avLst/>
          </a:prstGeom>
          <a:noFill/>
          <a:ln/>
        </p:spPr>
        <p:txBody>
          <a:bodyPr wrap="square" lIns="762" tIns="762" rIns="762" bIns="762" rtlCol="0" anchor="ctr">
            <a:normAutofit/>
          </a:bodyPr>
          <a:lstStyle/>
          <a:p>
            <a:pPr indent="0" marL="0">
              <a:buNone/>
            </a:pPr>
            <a:r>
              <a:rPr lang="en-US" sz="1100" dirty="0">
                <a:solidFill>
                  <a:srgbClr val="6B7C86"/>
                </a:solidFill>
                <a:latin typeface="Aptos" pitchFamily="34" charset="0"/>
                <a:ea typeface="Aptos" pitchFamily="34" charset="-122"/>
                <a:cs typeface="Aptos" pitchFamily="34" charset="-120"/>
              </a:rPr>
              <a:t>1459 fișiere urmărite în Git</a:t>
            </a:r>
            <a:endParaRPr lang="en-US" sz="1100" dirty="0"/>
          </a:p>
        </p:txBody>
      </p:sp>
      <p:sp>
        <p:nvSpPr>
          <p:cNvPr id="26" name="Shape 23"/>
          <p:cNvSpPr/>
          <p:nvPr/>
        </p:nvSpPr>
        <p:spPr>
          <a:xfrm>
            <a:off x="7635240" y="3977640"/>
            <a:ext cx="3611880" cy="1051560"/>
          </a:xfrm>
          <a:prstGeom prst="roundRect">
            <a:avLst>
              <a:gd name="adj" fmla="val 6957"/>
            </a:avLst>
          </a:prstGeom>
          <a:solidFill>
            <a:srgbClr val="FFFFFF"/>
          </a:solidFill>
          <a:ln w="12700">
            <a:solidFill>
              <a:srgbClr val="D9E7E2"/>
            </a:solidFill>
            <a:prstDash val="solid"/>
          </a:ln>
        </p:spPr>
      </p:sp>
      <p:sp>
        <p:nvSpPr>
          <p:cNvPr id="27" name="Text 24"/>
          <p:cNvSpPr/>
          <p:nvPr/>
        </p:nvSpPr>
        <p:spPr>
          <a:xfrm>
            <a:off x="7936992" y="4233672"/>
            <a:ext cx="1645920" cy="164592"/>
          </a:xfrm>
          <a:prstGeom prst="rect">
            <a:avLst/>
          </a:prstGeom>
          <a:noFill/>
          <a:ln/>
        </p:spPr>
        <p:txBody>
          <a:bodyPr wrap="square" lIns="762" tIns="762" rIns="762" bIns="762" rtlCol="0" anchor="ctr">
            <a:normAutofit/>
          </a:bodyPr>
          <a:lstStyle/>
          <a:p>
            <a:pPr indent="0" marL="0">
              <a:buNone/>
            </a:pPr>
            <a:r>
              <a:rPr lang="en-US" sz="1400" b="1" dirty="0">
                <a:solidFill>
                  <a:srgbClr val="071524"/>
                </a:solidFill>
                <a:latin typeface="Aptos" pitchFamily="34" charset="0"/>
                <a:ea typeface="Aptos" pitchFamily="34" charset="-122"/>
                <a:cs typeface="Aptos" pitchFamily="34" charset="-120"/>
              </a:rPr>
              <a:t>Flux de lucru</a:t>
            </a:r>
            <a:endParaRPr lang="en-US" sz="1400" dirty="0"/>
          </a:p>
        </p:txBody>
      </p:sp>
      <p:sp>
        <p:nvSpPr>
          <p:cNvPr id="28" name="Text 25"/>
          <p:cNvSpPr/>
          <p:nvPr/>
        </p:nvSpPr>
        <p:spPr>
          <a:xfrm>
            <a:off x="7936992" y="4498848"/>
            <a:ext cx="2651760" cy="201168"/>
          </a:xfrm>
          <a:prstGeom prst="rect">
            <a:avLst/>
          </a:prstGeom>
          <a:noFill/>
          <a:ln/>
        </p:spPr>
        <p:txBody>
          <a:bodyPr wrap="square" lIns="762" tIns="762" rIns="762" bIns="762" rtlCol="0" anchor="ctr">
            <a:normAutofit/>
          </a:bodyPr>
          <a:lstStyle/>
          <a:p>
            <a:pPr indent="0" marL="0">
              <a:buNone/>
            </a:pPr>
            <a:r>
              <a:rPr lang="en-US" sz="1100" dirty="0">
                <a:solidFill>
                  <a:srgbClr val="6B7C86"/>
                </a:solidFill>
                <a:latin typeface="Aptos" pitchFamily="34" charset="0"/>
                <a:ea typeface="Aptos" pitchFamily="34" charset="-122"/>
                <a:cs typeface="Aptos" pitchFamily="34" charset="-120"/>
              </a:rPr>
              <a:t>commit-uri incrementale, testare build, rulare locală</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FLUX PREZENTAT ÎN 90 SECUNDE</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Demo aplicație</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08</a:t>
            </a:r>
            <a:endParaRPr lang="en-US" sz="650" dirty="0"/>
          </a:p>
        </p:txBody>
      </p:sp>
      <p:sp>
        <p:nvSpPr>
          <p:cNvPr id="7" name="Shape 4"/>
          <p:cNvSpPr/>
          <p:nvPr/>
        </p:nvSpPr>
        <p:spPr>
          <a:xfrm>
            <a:off x="713232" y="1325880"/>
            <a:ext cx="6720840" cy="4434840"/>
          </a:xfrm>
          <a:prstGeom prst="roundRect">
            <a:avLst>
              <a:gd name="adj" fmla="val 1649"/>
            </a:avLst>
          </a:prstGeom>
          <a:solidFill>
            <a:srgbClr val="FDFEFE"/>
          </a:solidFill>
          <a:ln w="12700">
            <a:solidFill>
              <a:srgbClr val="D9E7E2"/>
            </a:solidFill>
            <a:prstDash val="solid"/>
          </a:ln>
        </p:spPr>
      </p:sp>
      <p:sp>
        <p:nvSpPr>
          <p:cNvPr id="8" name="Shape 5"/>
          <p:cNvSpPr/>
          <p:nvPr/>
        </p:nvSpPr>
        <p:spPr>
          <a:xfrm>
            <a:off x="1078992" y="1755648"/>
            <a:ext cx="5989320" cy="3337560"/>
          </a:xfrm>
          <a:prstGeom prst="rect">
            <a:avLst/>
          </a:prstGeom>
          <a:solidFill>
            <a:srgbClr val="EBF3F0"/>
          </a:solidFill>
          <a:ln w="12700">
            <a:solidFill>
              <a:srgbClr val="D9E7E2"/>
            </a:solidFill>
            <a:prstDash val="solid"/>
          </a:ln>
        </p:spPr>
      </p:sp>
      <p:sp>
        <p:nvSpPr>
          <p:cNvPr id="9" name="Shape 6"/>
          <p:cNvSpPr/>
          <p:nvPr/>
        </p:nvSpPr>
        <p:spPr>
          <a:xfrm>
            <a:off x="3401568" y="2743200"/>
            <a:ext cx="914400" cy="914400"/>
          </a:xfrm>
          <a:prstGeom prst="ellipse">
            <a:avLst/>
          </a:prstGeom>
          <a:solidFill>
            <a:srgbClr val="0F7B62"/>
          </a:solidFill>
          <a:ln w="12700">
            <a:solidFill>
              <a:srgbClr val="0F7B62"/>
            </a:solidFill>
            <a:prstDash val="solid"/>
          </a:ln>
        </p:spPr>
      </p:sp>
      <p:sp>
        <p:nvSpPr>
          <p:cNvPr id="10" name="Shape 7"/>
          <p:cNvSpPr/>
          <p:nvPr/>
        </p:nvSpPr>
        <p:spPr>
          <a:xfrm rot="5400000">
            <a:off x="3730752" y="2999232"/>
            <a:ext cx="310896" cy="384048"/>
          </a:xfrm>
          <a:prstGeom prst="triangle">
            <a:avLst/>
          </a:prstGeom>
          <a:solidFill>
            <a:srgbClr val="FFFFFF"/>
          </a:solidFill>
          <a:ln w="12700">
            <a:solidFill>
              <a:srgbClr val="FFFFFF"/>
            </a:solidFill>
            <a:prstDash val="solid"/>
          </a:ln>
        </p:spPr>
      </p:sp>
      <p:sp>
        <p:nvSpPr>
          <p:cNvPr id="11" name="Text 8"/>
          <p:cNvSpPr/>
          <p:nvPr/>
        </p:nvSpPr>
        <p:spPr>
          <a:xfrm>
            <a:off x="1417320" y="5285232"/>
            <a:ext cx="5303520" cy="164592"/>
          </a:xfrm>
          <a:prstGeom prst="rect">
            <a:avLst/>
          </a:prstGeom>
          <a:noFill/>
          <a:ln/>
        </p:spPr>
        <p:txBody>
          <a:bodyPr wrap="square" lIns="0" tIns="0" rIns="0" bIns="0" rtlCol="0" anchor="ctr"/>
          <a:lstStyle/>
          <a:p>
            <a:pPr algn="ctr" indent="0" marL="0">
              <a:buNone/>
            </a:pPr>
            <a:r>
              <a:rPr lang="en-US" sz="1150" b="1" dirty="0">
                <a:solidFill>
                  <a:srgbClr val="6B7C86"/>
                </a:solidFill>
              </a:rPr>
              <a:t>Inserează aici video screen/demo live</a:t>
            </a:r>
            <a:endParaRPr lang="en-US" sz="1150" dirty="0"/>
          </a:p>
        </p:txBody>
      </p:sp>
      <p:sp>
        <p:nvSpPr>
          <p:cNvPr id="12" name="Shape 9"/>
          <p:cNvSpPr/>
          <p:nvPr/>
        </p:nvSpPr>
        <p:spPr>
          <a:xfrm>
            <a:off x="8065008" y="1435608"/>
            <a:ext cx="329184" cy="329184"/>
          </a:xfrm>
          <a:prstGeom prst="ellipse">
            <a:avLst/>
          </a:prstGeom>
          <a:solidFill>
            <a:srgbClr val="0F7B62"/>
          </a:solidFill>
          <a:ln w="12700">
            <a:solidFill>
              <a:srgbClr val="0F7B62"/>
            </a:solidFill>
            <a:prstDash val="solid"/>
          </a:ln>
        </p:spPr>
      </p:sp>
      <p:sp>
        <p:nvSpPr>
          <p:cNvPr id="13" name="Text 10"/>
          <p:cNvSpPr/>
          <p:nvPr/>
        </p:nvSpPr>
        <p:spPr>
          <a:xfrm>
            <a:off x="8065008" y="1527048"/>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rPr>
              <a:t>1</a:t>
            </a:r>
            <a:endParaRPr lang="en-US" sz="750" dirty="0"/>
          </a:p>
        </p:txBody>
      </p:sp>
      <p:sp>
        <p:nvSpPr>
          <p:cNvPr id="14" name="Text 11"/>
          <p:cNvSpPr/>
          <p:nvPr/>
        </p:nvSpPr>
        <p:spPr>
          <a:xfrm>
            <a:off x="8549640" y="1417320"/>
            <a:ext cx="2011680" cy="155448"/>
          </a:xfrm>
          <a:prstGeom prst="rect">
            <a:avLst/>
          </a:prstGeom>
          <a:noFill/>
          <a:ln/>
        </p:spPr>
        <p:txBody>
          <a:bodyPr wrap="square" lIns="762" tIns="762" rIns="762" bIns="762" rtlCol="0" anchor="ctr">
            <a:normAutofit/>
          </a:bodyPr>
          <a:lstStyle/>
          <a:p>
            <a:pPr indent="0" marL="0">
              <a:buNone/>
            </a:pPr>
            <a:r>
              <a:rPr lang="en-US" sz="1300" b="1" dirty="0">
                <a:solidFill>
                  <a:srgbClr val="071524"/>
                </a:solidFill>
                <a:latin typeface="Aptos" pitchFamily="34" charset="0"/>
                <a:ea typeface="Aptos" pitchFamily="34" charset="-122"/>
                <a:cs typeface="Aptos" pitchFamily="34" charset="-120"/>
              </a:rPr>
              <a:t>Login</a:t>
            </a:r>
            <a:endParaRPr lang="en-US" sz="1300" dirty="0"/>
          </a:p>
        </p:txBody>
      </p:sp>
      <p:sp>
        <p:nvSpPr>
          <p:cNvPr id="15" name="Text 12"/>
          <p:cNvSpPr/>
          <p:nvPr/>
        </p:nvSpPr>
        <p:spPr>
          <a:xfrm>
            <a:off x="8549640" y="1664208"/>
            <a:ext cx="2468880" cy="16459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doctor/pacient</a:t>
            </a:r>
            <a:endParaRPr lang="en-US" sz="1050" dirty="0"/>
          </a:p>
        </p:txBody>
      </p:sp>
      <p:sp>
        <p:nvSpPr>
          <p:cNvPr id="16" name="Shape 13"/>
          <p:cNvSpPr/>
          <p:nvPr/>
        </p:nvSpPr>
        <p:spPr>
          <a:xfrm>
            <a:off x="8065008" y="2258568"/>
            <a:ext cx="329184" cy="329184"/>
          </a:xfrm>
          <a:prstGeom prst="ellipse">
            <a:avLst/>
          </a:prstGeom>
          <a:solidFill>
            <a:srgbClr val="0F7B62"/>
          </a:solidFill>
          <a:ln w="12700">
            <a:solidFill>
              <a:srgbClr val="0F7B62"/>
            </a:solidFill>
            <a:prstDash val="solid"/>
          </a:ln>
        </p:spPr>
      </p:sp>
      <p:sp>
        <p:nvSpPr>
          <p:cNvPr id="17" name="Text 14"/>
          <p:cNvSpPr/>
          <p:nvPr/>
        </p:nvSpPr>
        <p:spPr>
          <a:xfrm>
            <a:off x="8065008" y="2350008"/>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rPr>
              <a:t>2</a:t>
            </a:r>
            <a:endParaRPr lang="en-US" sz="750" dirty="0"/>
          </a:p>
        </p:txBody>
      </p:sp>
      <p:sp>
        <p:nvSpPr>
          <p:cNvPr id="18" name="Text 15"/>
          <p:cNvSpPr/>
          <p:nvPr/>
        </p:nvSpPr>
        <p:spPr>
          <a:xfrm>
            <a:off x="8549640" y="2240280"/>
            <a:ext cx="2011680" cy="155448"/>
          </a:xfrm>
          <a:prstGeom prst="rect">
            <a:avLst/>
          </a:prstGeom>
          <a:noFill/>
          <a:ln/>
        </p:spPr>
        <p:txBody>
          <a:bodyPr wrap="square" lIns="762" tIns="762" rIns="762" bIns="762" rtlCol="0" anchor="ctr">
            <a:normAutofit/>
          </a:bodyPr>
          <a:lstStyle/>
          <a:p>
            <a:pPr indent="0" marL="0">
              <a:buNone/>
            </a:pPr>
            <a:r>
              <a:rPr lang="en-US" sz="1300" b="1" dirty="0">
                <a:solidFill>
                  <a:srgbClr val="071524"/>
                </a:solidFill>
                <a:latin typeface="Aptos" pitchFamily="34" charset="0"/>
                <a:ea typeface="Aptos" pitchFamily="34" charset="-122"/>
                <a:cs typeface="Aptos" pitchFamily="34" charset="-120"/>
              </a:rPr>
              <a:t>Dashboard</a:t>
            </a:r>
            <a:endParaRPr lang="en-US" sz="1300" dirty="0"/>
          </a:p>
        </p:txBody>
      </p:sp>
      <p:sp>
        <p:nvSpPr>
          <p:cNvPr id="19" name="Text 16"/>
          <p:cNvSpPr/>
          <p:nvPr/>
        </p:nvSpPr>
        <p:spPr>
          <a:xfrm>
            <a:off x="8549640" y="2487168"/>
            <a:ext cx="2468880" cy="16459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indicatori și navigare</a:t>
            </a:r>
            <a:endParaRPr lang="en-US" sz="1050" dirty="0"/>
          </a:p>
        </p:txBody>
      </p:sp>
      <p:sp>
        <p:nvSpPr>
          <p:cNvPr id="20" name="Shape 17"/>
          <p:cNvSpPr/>
          <p:nvPr/>
        </p:nvSpPr>
        <p:spPr>
          <a:xfrm>
            <a:off x="8065008" y="3081528"/>
            <a:ext cx="329184" cy="329184"/>
          </a:xfrm>
          <a:prstGeom prst="ellipse">
            <a:avLst/>
          </a:prstGeom>
          <a:solidFill>
            <a:srgbClr val="0F7B62"/>
          </a:solidFill>
          <a:ln w="12700">
            <a:solidFill>
              <a:srgbClr val="0F7B62"/>
            </a:solidFill>
            <a:prstDash val="solid"/>
          </a:ln>
        </p:spPr>
      </p:sp>
      <p:sp>
        <p:nvSpPr>
          <p:cNvPr id="21" name="Text 18"/>
          <p:cNvSpPr/>
          <p:nvPr/>
        </p:nvSpPr>
        <p:spPr>
          <a:xfrm>
            <a:off x="8065008" y="3172968"/>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rPr>
              <a:t>3</a:t>
            </a:r>
            <a:endParaRPr lang="en-US" sz="750" dirty="0"/>
          </a:p>
        </p:txBody>
      </p:sp>
      <p:sp>
        <p:nvSpPr>
          <p:cNvPr id="22" name="Text 19"/>
          <p:cNvSpPr/>
          <p:nvPr/>
        </p:nvSpPr>
        <p:spPr>
          <a:xfrm>
            <a:off x="8549640" y="3063240"/>
            <a:ext cx="2011680" cy="155448"/>
          </a:xfrm>
          <a:prstGeom prst="rect">
            <a:avLst/>
          </a:prstGeom>
          <a:noFill/>
          <a:ln/>
        </p:spPr>
        <p:txBody>
          <a:bodyPr wrap="square" lIns="762" tIns="762" rIns="762" bIns="762" rtlCol="0" anchor="ctr">
            <a:normAutofit/>
          </a:bodyPr>
          <a:lstStyle/>
          <a:p>
            <a:pPr indent="0" marL="0">
              <a:buNone/>
            </a:pPr>
            <a:r>
              <a:rPr lang="en-US" sz="1300" b="1" dirty="0">
                <a:solidFill>
                  <a:srgbClr val="071524"/>
                </a:solidFill>
                <a:latin typeface="Aptos" pitchFamily="34" charset="0"/>
                <a:ea typeface="Aptos" pitchFamily="34" charset="-122"/>
                <a:cs typeface="Aptos" pitchFamily="34" charset="-120"/>
              </a:rPr>
              <a:t>Programare</a:t>
            </a:r>
            <a:endParaRPr lang="en-US" sz="1300" dirty="0"/>
          </a:p>
        </p:txBody>
      </p:sp>
      <p:sp>
        <p:nvSpPr>
          <p:cNvPr id="23" name="Text 20"/>
          <p:cNvSpPr/>
          <p:nvPr/>
        </p:nvSpPr>
        <p:spPr>
          <a:xfrm>
            <a:off x="8549640" y="3310128"/>
            <a:ext cx="2468880" cy="16459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filtru, status, anulare</a:t>
            </a:r>
            <a:endParaRPr lang="en-US" sz="1050" dirty="0"/>
          </a:p>
        </p:txBody>
      </p:sp>
      <p:sp>
        <p:nvSpPr>
          <p:cNvPr id="24" name="Shape 21"/>
          <p:cNvSpPr/>
          <p:nvPr/>
        </p:nvSpPr>
        <p:spPr>
          <a:xfrm>
            <a:off x="8065008" y="3904488"/>
            <a:ext cx="329184" cy="329184"/>
          </a:xfrm>
          <a:prstGeom prst="ellipse">
            <a:avLst/>
          </a:prstGeom>
          <a:solidFill>
            <a:srgbClr val="0F7B62"/>
          </a:solidFill>
          <a:ln w="12700">
            <a:solidFill>
              <a:srgbClr val="0F7B62"/>
            </a:solidFill>
            <a:prstDash val="solid"/>
          </a:ln>
        </p:spPr>
      </p:sp>
      <p:sp>
        <p:nvSpPr>
          <p:cNvPr id="25" name="Text 22"/>
          <p:cNvSpPr/>
          <p:nvPr/>
        </p:nvSpPr>
        <p:spPr>
          <a:xfrm>
            <a:off x="8065008" y="3995928"/>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rPr>
              <a:t>4</a:t>
            </a:r>
            <a:endParaRPr lang="en-US" sz="750" dirty="0"/>
          </a:p>
        </p:txBody>
      </p:sp>
      <p:sp>
        <p:nvSpPr>
          <p:cNvPr id="26" name="Text 23"/>
          <p:cNvSpPr/>
          <p:nvPr/>
        </p:nvSpPr>
        <p:spPr>
          <a:xfrm>
            <a:off x="8549640" y="3886200"/>
            <a:ext cx="2011680" cy="155448"/>
          </a:xfrm>
          <a:prstGeom prst="rect">
            <a:avLst/>
          </a:prstGeom>
          <a:noFill/>
          <a:ln/>
        </p:spPr>
        <p:txBody>
          <a:bodyPr wrap="square" lIns="762" tIns="762" rIns="762" bIns="762" rtlCol="0" anchor="ctr">
            <a:normAutofit/>
          </a:bodyPr>
          <a:lstStyle/>
          <a:p>
            <a:pPr indent="0" marL="0">
              <a:buNone/>
            </a:pPr>
            <a:r>
              <a:rPr lang="en-US" sz="1300" b="1" dirty="0">
                <a:solidFill>
                  <a:srgbClr val="071524"/>
                </a:solidFill>
                <a:latin typeface="Aptos" pitchFamily="34" charset="0"/>
                <a:ea typeface="Aptos" pitchFamily="34" charset="-122"/>
                <a:cs typeface="Aptos" pitchFamily="34" charset="-120"/>
              </a:rPr>
              <a:t>Fișă/analize</a:t>
            </a:r>
            <a:endParaRPr lang="en-US" sz="1300" dirty="0"/>
          </a:p>
        </p:txBody>
      </p:sp>
      <p:sp>
        <p:nvSpPr>
          <p:cNvPr id="27" name="Text 24"/>
          <p:cNvSpPr/>
          <p:nvPr/>
        </p:nvSpPr>
        <p:spPr>
          <a:xfrm>
            <a:off x="8549640" y="4133088"/>
            <a:ext cx="2468880" cy="16459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timeline + export PDF</a:t>
            </a:r>
            <a:endParaRPr lang="en-US" sz="1050" dirty="0"/>
          </a:p>
        </p:txBody>
      </p:sp>
      <p:sp>
        <p:nvSpPr>
          <p:cNvPr id="28" name="Shape 25"/>
          <p:cNvSpPr/>
          <p:nvPr/>
        </p:nvSpPr>
        <p:spPr>
          <a:xfrm>
            <a:off x="8065008" y="4727448"/>
            <a:ext cx="329184" cy="329184"/>
          </a:xfrm>
          <a:prstGeom prst="ellipse">
            <a:avLst/>
          </a:prstGeom>
          <a:solidFill>
            <a:srgbClr val="0F7B62"/>
          </a:solidFill>
          <a:ln w="12700">
            <a:solidFill>
              <a:srgbClr val="0F7B62"/>
            </a:solidFill>
            <a:prstDash val="solid"/>
          </a:ln>
        </p:spPr>
      </p:sp>
      <p:sp>
        <p:nvSpPr>
          <p:cNvPr id="29" name="Text 26"/>
          <p:cNvSpPr/>
          <p:nvPr/>
        </p:nvSpPr>
        <p:spPr>
          <a:xfrm>
            <a:off x="8065008" y="4818888"/>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rPr>
              <a:t>5</a:t>
            </a:r>
            <a:endParaRPr lang="en-US" sz="750" dirty="0"/>
          </a:p>
        </p:txBody>
      </p:sp>
      <p:sp>
        <p:nvSpPr>
          <p:cNvPr id="30" name="Text 27"/>
          <p:cNvSpPr/>
          <p:nvPr/>
        </p:nvSpPr>
        <p:spPr>
          <a:xfrm>
            <a:off x="8549640" y="4709160"/>
            <a:ext cx="2011680" cy="155448"/>
          </a:xfrm>
          <a:prstGeom prst="rect">
            <a:avLst/>
          </a:prstGeom>
          <a:noFill/>
          <a:ln/>
        </p:spPr>
        <p:txBody>
          <a:bodyPr wrap="square" lIns="762" tIns="762" rIns="762" bIns="762" rtlCol="0" anchor="ctr">
            <a:normAutofit/>
          </a:bodyPr>
          <a:lstStyle/>
          <a:p>
            <a:pPr indent="0" marL="0">
              <a:buNone/>
            </a:pPr>
            <a:r>
              <a:rPr lang="en-US" sz="1300" b="1" dirty="0">
                <a:solidFill>
                  <a:srgbClr val="071524"/>
                </a:solidFill>
                <a:latin typeface="Aptos" pitchFamily="34" charset="0"/>
                <a:ea typeface="Aptos" pitchFamily="34" charset="-122"/>
                <a:cs typeface="Aptos" pitchFamily="34" charset="-120"/>
              </a:rPr>
              <a:t>Notificări</a:t>
            </a:r>
            <a:endParaRPr lang="en-US" sz="1300" dirty="0"/>
          </a:p>
        </p:txBody>
      </p:sp>
      <p:sp>
        <p:nvSpPr>
          <p:cNvPr id="31" name="Text 28"/>
          <p:cNvSpPr/>
          <p:nvPr/>
        </p:nvSpPr>
        <p:spPr>
          <a:xfrm>
            <a:off x="8549640" y="4956048"/>
            <a:ext cx="2468880" cy="164592"/>
          </a:xfrm>
          <a:prstGeom prst="rect">
            <a:avLst/>
          </a:prstGeom>
          <a:noFill/>
          <a:ln/>
        </p:spPr>
        <p:txBody>
          <a:bodyPr wrap="square" lIns="762" tIns="762" rIns="762" bIns="762" rtlCol="0" anchor="ctr">
            <a:normAutofit/>
          </a:bodyPr>
          <a:lstStyle/>
          <a:p>
            <a:pPr indent="0" marL="0">
              <a:buNone/>
            </a:pPr>
            <a:r>
              <a:rPr lang="en-US" sz="1050" dirty="0">
                <a:solidFill>
                  <a:srgbClr val="6B7C86"/>
                </a:solidFill>
                <a:latin typeface="Aptos" pitchFamily="34" charset="0"/>
                <a:ea typeface="Aptos" pitchFamily="34" charset="-122"/>
                <a:cs typeface="Aptos" pitchFamily="34" charset="-120"/>
              </a:rPr>
              <a:t>badge, citire, refresh</a:t>
            </a:r>
            <a:endParaRPr lang="en-US" sz="1050" dirty="0"/>
          </a:p>
        </p:txBody>
      </p:sp>
      <p:sp>
        <p:nvSpPr>
          <p:cNvPr id="32" name="Text 29"/>
          <p:cNvSpPr/>
          <p:nvPr/>
        </p:nvSpPr>
        <p:spPr>
          <a:xfrm>
            <a:off x="8065008" y="5650992"/>
            <a:ext cx="3200400" cy="274320"/>
          </a:xfrm>
          <a:prstGeom prst="rect">
            <a:avLst/>
          </a:prstGeom>
          <a:noFill/>
          <a:ln/>
        </p:spPr>
        <p:txBody>
          <a:bodyPr wrap="square" lIns="762" tIns="762" rIns="762" bIns="762" rtlCol="0" anchor="ctr">
            <a:normAutofit/>
          </a:bodyPr>
          <a:lstStyle/>
          <a:p>
            <a:pPr indent="0" marL="0">
              <a:buNone/>
            </a:pPr>
            <a:r>
              <a:rPr lang="en-US" sz="1100" b="1" dirty="0">
                <a:solidFill>
                  <a:srgbClr val="D94E4E"/>
                </a:solidFill>
                <a:latin typeface="Aptos" pitchFamily="34" charset="0"/>
                <a:ea typeface="Aptos" pitchFamily="34" charset="-122"/>
                <a:cs typeface="Aptos" pitchFamily="34" charset="-120"/>
              </a:rPr>
              <a:t>Pentru 7 minute total: păstrează demo-ul la 1 minut și jumătate, fără detalii de cod.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REZULTATUL PROIECTULUI</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Funcționalități implementate</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09</a:t>
            </a:r>
            <a:endParaRPr lang="en-US" sz="650" dirty="0"/>
          </a:p>
        </p:txBody>
      </p:sp>
      <p:sp>
        <p:nvSpPr>
          <p:cNvPr id="7" name="Shape 4"/>
          <p:cNvSpPr/>
          <p:nvPr/>
        </p:nvSpPr>
        <p:spPr>
          <a:xfrm>
            <a:off x="685800" y="1389888"/>
            <a:ext cx="3337560" cy="4114800"/>
          </a:xfrm>
          <a:prstGeom prst="roundRect">
            <a:avLst>
              <a:gd name="adj" fmla="val 2192"/>
            </a:avLst>
          </a:prstGeom>
          <a:solidFill>
            <a:srgbClr val="FFFFFF"/>
          </a:solidFill>
          <a:ln w="12700">
            <a:solidFill>
              <a:srgbClr val="D9E7E2"/>
            </a:solidFill>
            <a:prstDash val="solid"/>
          </a:ln>
        </p:spPr>
      </p:sp>
      <p:sp>
        <p:nvSpPr>
          <p:cNvPr id="8" name="Text 5"/>
          <p:cNvSpPr/>
          <p:nvPr/>
        </p:nvSpPr>
        <p:spPr>
          <a:xfrm>
            <a:off x="960120" y="1700784"/>
            <a:ext cx="2194560" cy="219456"/>
          </a:xfrm>
          <a:prstGeom prst="rect">
            <a:avLst/>
          </a:prstGeom>
          <a:noFill/>
          <a:ln/>
        </p:spPr>
        <p:txBody>
          <a:bodyPr wrap="square" lIns="0" tIns="0" rIns="0" bIns="0" rtlCol="0" anchor="ctr"/>
          <a:lstStyle/>
          <a:p>
            <a:pPr indent="0" marL="0">
              <a:buNone/>
            </a:pPr>
            <a:r>
              <a:rPr lang="en-US" sz="2000" b="1" dirty="0">
                <a:solidFill>
                  <a:srgbClr val="2F80ED"/>
                </a:solidFill>
              </a:rPr>
              <a:t>Doctor</a:t>
            </a:r>
            <a:endParaRPr lang="en-US" sz="2000" dirty="0"/>
          </a:p>
        </p:txBody>
      </p:sp>
      <p:sp>
        <p:nvSpPr>
          <p:cNvPr id="9" name="Text 6"/>
          <p:cNvSpPr/>
          <p:nvPr/>
        </p:nvSpPr>
        <p:spPr>
          <a:xfrm>
            <a:off x="996696" y="2212848"/>
            <a:ext cx="2514600" cy="2148840"/>
          </a:xfrm>
          <a:prstGeom prst="rect">
            <a:avLst/>
          </a:prstGeom>
          <a:noFill/>
          <a:ln/>
        </p:spPr>
        <p:txBody>
          <a:bodyPr wrap="square" lIns="1016" tIns="1016" rIns="1016" bIns="1016" rtlCol="0" anchor="ctr">
            <a:normAutofit/>
          </a:bodyPr>
          <a:lstStyle/>
          <a:p>
            <a:r>
              <a:rPr lang="en-US" sz="1200" dirty="0">
                <a:solidFill>
                  <a:srgbClr val="071524"/>
                </a:solidFill>
                <a:latin typeface="Aptos" pitchFamily="34" charset="0"/>
                <a:ea typeface="Aptos" pitchFamily="34" charset="-122"/>
                <a:cs typeface="Aptos" pitchFamily="34" charset="-120"/>
              </a:rPr>
              <a:t>dashboard cu indicatori</a:t>
            </a:r>
            <a:endParaRPr lang="en-US" sz="1200" dirty="0"/>
          </a:p>
          <a:p>
            <a:r>
              <a:rPr lang="en-US" sz="1200" dirty="0">
                <a:solidFill>
                  <a:srgbClr val="071524"/>
                </a:solidFill>
                <a:latin typeface="Aptos" pitchFamily="34" charset="0"/>
                <a:ea typeface="Aptos" pitchFamily="34" charset="-122"/>
                <a:cs typeface="Aptos" pitchFamily="34" charset="-120"/>
              </a:rPr>
              <a:t>pacienți și programări</a:t>
            </a:r>
            <a:endParaRPr lang="en-US" sz="1200" dirty="0"/>
          </a:p>
          <a:p>
            <a:r>
              <a:rPr lang="en-US" sz="1200" dirty="0">
                <a:solidFill>
                  <a:srgbClr val="071524"/>
                </a:solidFill>
                <a:latin typeface="Aptos" pitchFamily="34" charset="0"/>
                <a:ea typeface="Aptos" pitchFamily="34" charset="-122"/>
                <a:cs typeface="Aptos" pitchFamily="34" charset="-120"/>
              </a:rPr>
              <a:t>fișe medicale</a:t>
            </a:r>
            <a:endParaRPr lang="en-US" sz="1200" dirty="0"/>
          </a:p>
          <a:p>
            <a:r>
              <a:rPr lang="en-US" sz="1200" dirty="0">
                <a:solidFill>
                  <a:srgbClr val="071524"/>
                </a:solidFill>
                <a:latin typeface="Aptos" pitchFamily="34" charset="0"/>
                <a:ea typeface="Aptos" pitchFamily="34" charset="-122"/>
                <a:cs typeface="Aptos" pitchFamily="34" charset="-120"/>
              </a:rPr>
              <a:t>rapoarte PDF/CSV</a:t>
            </a:r>
            <a:endParaRPr lang="en-US" sz="1200" dirty="0"/>
          </a:p>
        </p:txBody>
      </p:sp>
      <p:sp>
        <p:nvSpPr>
          <p:cNvPr id="10" name="Shape 7"/>
          <p:cNvSpPr/>
          <p:nvPr/>
        </p:nvSpPr>
        <p:spPr>
          <a:xfrm>
            <a:off x="4480560" y="1389888"/>
            <a:ext cx="3337560" cy="4114800"/>
          </a:xfrm>
          <a:prstGeom prst="roundRect">
            <a:avLst>
              <a:gd name="adj" fmla="val 2192"/>
            </a:avLst>
          </a:prstGeom>
          <a:solidFill>
            <a:srgbClr val="FFFFFF"/>
          </a:solidFill>
          <a:ln w="12700">
            <a:solidFill>
              <a:srgbClr val="D9E7E2"/>
            </a:solidFill>
            <a:prstDash val="solid"/>
          </a:ln>
        </p:spPr>
      </p:sp>
      <p:sp>
        <p:nvSpPr>
          <p:cNvPr id="11" name="Text 8"/>
          <p:cNvSpPr/>
          <p:nvPr/>
        </p:nvSpPr>
        <p:spPr>
          <a:xfrm>
            <a:off x="4754880" y="1700784"/>
            <a:ext cx="2194560" cy="219456"/>
          </a:xfrm>
          <a:prstGeom prst="rect">
            <a:avLst/>
          </a:prstGeom>
          <a:noFill/>
          <a:ln/>
        </p:spPr>
        <p:txBody>
          <a:bodyPr wrap="square" lIns="0" tIns="0" rIns="0" bIns="0" rtlCol="0" anchor="ctr"/>
          <a:lstStyle/>
          <a:p>
            <a:pPr indent="0" marL="0">
              <a:buNone/>
            </a:pPr>
            <a:r>
              <a:rPr lang="en-US" sz="2000" b="1" dirty="0">
                <a:solidFill>
                  <a:srgbClr val="0F7B62"/>
                </a:solidFill>
              </a:rPr>
              <a:t>Pacient</a:t>
            </a:r>
            <a:endParaRPr lang="en-US" sz="2000" dirty="0"/>
          </a:p>
        </p:txBody>
      </p:sp>
      <p:sp>
        <p:nvSpPr>
          <p:cNvPr id="12" name="Text 9"/>
          <p:cNvSpPr/>
          <p:nvPr/>
        </p:nvSpPr>
        <p:spPr>
          <a:xfrm>
            <a:off x="4791456" y="2212848"/>
            <a:ext cx="2514600" cy="2148840"/>
          </a:xfrm>
          <a:prstGeom prst="rect">
            <a:avLst/>
          </a:prstGeom>
          <a:noFill/>
          <a:ln/>
        </p:spPr>
        <p:txBody>
          <a:bodyPr wrap="square" lIns="1016" tIns="1016" rIns="1016" bIns="1016" rtlCol="0" anchor="ctr">
            <a:normAutofit/>
          </a:bodyPr>
          <a:lstStyle/>
          <a:p>
            <a:r>
              <a:rPr lang="en-US" sz="1200" dirty="0">
                <a:solidFill>
                  <a:srgbClr val="071524"/>
                </a:solidFill>
                <a:latin typeface="Aptos" pitchFamily="34" charset="0"/>
                <a:ea typeface="Aptos" pitchFamily="34" charset="-122"/>
                <a:cs typeface="Aptos" pitchFamily="34" charset="-120"/>
              </a:rPr>
              <a:t>programări și filtre</a:t>
            </a:r>
            <a:endParaRPr lang="en-US" sz="1200" dirty="0"/>
          </a:p>
          <a:p>
            <a:r>
              <a:rPr lang="en-US" sz="1200" dirty="0">
                <a:solidFill>
                  <a:srgbClr val="071524"/>
                </a:solidFill>
                <a:latin typeface="Aptos" pitchFamily="34" charset="0"/>
                <a:ea typeface="Aptos" pitchFamily="34" charset="-122"/>
                <a:cs typeface="Aptos" pitchFamily="34" charset="-120"/>
              </a:rPr>
              <a:t>rețete active</a:t>
            </a:r>
            <a:endParaRPr lang="en-US" sz="1200" dirty="0"/>
          </a:p>
          <a:p>
            <a:r>
              <a:rPr lang="en-US" sz="1200" dirty="0">
                <a:solidFill>
                  <a:srgbClr val="071524"/>
                </a:solidFill>
                <a:latin typeface="Aptos" pitchFamily="34" charset="0"/>
                <a:ea typeface="Aptos" pitchFamily="34" charset="-122"/>
                <a:cs typeface="Aptos" pitchFamily="34" charset="-120"/>
              </a:rPr>
              <a:t>analize + PDF</a:t>
            </a:r>
            <a:endParaRPr lang="en-US" sz="1200" dirty="0"/>
          </a:p>
          <a:p>
            <a:r>
              <a:rPr lang="en-US" sz="1200" dirty="0">
                <a:solidFill>
                  <a:srgbClr val="071524"/>
                </a:solidFill>
                <a:latin typeface="Aptos" pitchFamily="34" charset="0"/>
                <a:ea typeface="Aptos" pitchFamily="34" charset="-122"/>
                <a:cs typeface="Aptos" pitchFamily="34" charset="-120"/>
              </a:rPr>
              <a:t>setări și dark mode</a:t>
            </a:r>
            <a:endParaRPr lang="en-US" sz="1200" dirty="0"/>
          </a:p>
        </p:txBody>
      </p:sp>
      <p:sp>
        <p:nvSpPr>
          <p:cNvPr id="13" name="Shape 10"/>
          <p:cNvSpPr/>
          <p:nvPr/>
        </p:nvSpPr>
        <p:spPr>
          <a:xfrm>
            <a:off x="8275320" y="1389888"/>
            <a:ext cx="3337560" cy="4114800"/>
          </a:xfrm>
          <a:prstGeom prst="roundRect">
            <a:avLst>
              <a:gd name="adj" fmla="val 2192"/>
            </a:avLst>
          </a:prstGeom>
          <a:solidFill>
            <a:srgbClr val="FFFFFF"/>
          </a:solidFill>
          <a:ln w="12700">
            <a:solidFill>
              <a:srgbClr val="D9E7E2"/>
            </a:solidFill>
            <a:prstDash val="solid"/>
          </a:ln>
        </p:spPr>
      </p:sp>
      <p:sp>
        <p:nvSpPr>
          <p:cNvPr id="14" name="Text 11"/>
          <p:cNvSpPr/>
          <p:nvPr/>
        </p:nvSpPr>
        <p:spPr>
          <a:xfrm>
            <a:off x="8549640" y="1700784"/>
            <a:ext cx="2194560" cy="219456"/>
          </a:xfrm>
          <a:prstGeom prst="rect">
            <a:avLst/>
          </a:prstGeom>
          <a:noFill/>
          <a:ln/>
        </p:spPr>
        <p:txBody>
          <a:bodyPr wrap="square" lIns="0" tIns="0" rIns="0" bIns="0" rtlCol="0" anchor="ctr"/>
          <a:lstStyle/>
          <a:p>
            <a:pPr indent="0" marL="0">
              <a:buNone/>
            </a:pPr>
            <a:r>
              <a:rPr lang="en-US" sz="2000" b="1" dirty="0">
                <a:solidFill>
                  <a:srgbClr val="071524"/>
                </a:solidFill>
              </a:rPr>
              <a:t>Platformă</a:t>
            </a:r>
            <a:endParaRPr lang="en-US" sz="2000" dirty="0"/>
          </a:p>
        </p:txBody>
      </p:sp>
      <p:sp>
        <p:nvSpPr>
          <p:cNvPr id="15" name="Text 12"/>
          <p:cNvSpPr/>
          <p:nvPr/>
        </p:nvSpPr>
        <p:spPr>
          <a:xfrm>
            <a:off x="8586216" y="2212848"/>
            <a:ext cx="2514600" cy="2148840"/>
          </a:xfrm>
          <a:prstGeom prst="rect">
            <a:avLst/>
          </a:prstGeom>
          <a:noFill/>
          <a:ln/>
        </p:spPr>
        <p:txBody>
          <a:bodyPr wrap="square" lIns="1016" tIns="1016" rIns="1016" bIns="1016" rtlCol="0" anchor="ctr">
            <a:normAutofit/>
          </a:bodyPr>
          <a:lstStyle/>
          <a:p>
            <a:r>
              <a:rPr lang="en-US" sz="1200" dirty="0">
                <a:solidFill>
                  <a:srgbClr val="071524"/>
                </a:solidFill>
                <a:latin typeface="Aptos" pitchFamily="34" charset="0"/>
                <a:ea typeface="Aptos" pitchFamily="34" charset="-122"/>
                <a:cs typeface="Aptos" pitchFamily="34" charset="-120"/>
              </a:rPr>
              <a:t>mesagerie</a:t>
            </a:r>
            <a:endParaRPr lang="en-US" sz="1200" dirty="0"/>
          </a:p>
          <a:p>
            <a:r>
              <a:rPr lang="en-US" sz="1200" dirty="0">
                <a:solidFill>
                  <a:srgbClr val="071524"/>
                </a:solidFill>
                <a:latin typeface="Aptos" pitchFamily="34" charset="0"/>
                <a:ea typeface="Aptos" pitchFamily="34" charset="-122"/>
                <a:cs typeface="Aptos" pitchFamily="34" charset="-120"/>
              </a:rPr>
              <a:t>notificări</a:t>
            </a:r>
            <a:endParaRPr lang="en-US" sz="1200" dirty="0"/>
          </a:p>
          <a:p>
            <a:r>
              <a:rPr lang="en-US" sz="1200" dirty="0">
                <a:solidFill>
                  <a:srgbClr val="071524"/>
                </a:solidFill>
                <a:latin typeface="Aptos" pitchFamily="34" charset="0"/>
                <a:ea typeface="Aptos" pitchFamily="34" charset="-122"/>
                <a:cs typeface="Aptos" pitchFamily="34" charset="-120"/>
              </a:rPr>
              <a:t>audit logs</a:t>
            </a:r>
            <a:endParaRPr lang="en-US" sz="1200" dirty="0"/>
          </a:p>
          <a:p>
            <a:r>
              <a:rPr lang="en-US" sz="1200" dirty="0">
                <a:solidFill>
                  <a:srgbClr val="071524"/>
                </a:solidFill>
                <a:latin typeface="Aptos" pitchFamily="34" charset="0"/>
                <a:ea typeface="Aptos" pitchFamily="34" charset="-122"/>
                <a:cs typeface="Aptos" pitchFamily="34" charset="-120"/>
              </a:rPr>
              <a:t>logout după inactivitate</a:t>
            </a:r>
            <a:endParaRPr lang="en-US" sz="1200" dirty="0"/>
          </a:p>
        </p:txBody>
      </p:sp>
      <p:sp>
        <p:nvSpPr>
          <p:cNvPr id="16" name="Text 13"/>
          <p:cNvSpPr/>
          <p:nvPr/>
        </p:nvSpPr>
        <p:spPr>
          <a:xfrm>
            <a:off x="914400" y="5797296"/>
            <a:ext cx="9966960" cy="164592"/>
          </a:xfrm>
          <a:prstGeom prst="rect">
            <a:avLst/>
          </a:prstGeom>
          <a:noFill/>
          <a:ln/>
        </p:spPr>
        <p:txBody>
          <a:bodyPr wrap="square" lIns="0" tIns="0" rIns="0" bIns="0" rtlCol="0" anchor="ctr"/>
          <a:lstStyle/>
          <a:p>
            <a:pPr algn="ctr" indent="0" marL="0">
              <a:buNone/>
            </a:pPr>
            <a:r>
              <a:rPr lang="en-US" sz="1300" b="1" dirty="0">
                <a:solidFill>
                  <a:srgbClr val="0F7B62"/>
                </a:solidFill>
              </a:rPr>
              <a:t>Stabilitate: build verificat fără erori după integrarea ultimelor funcții.</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8"/>
        </a:solidFill>
      </p:bgPr>
    </p:bg>
    <p:spTree>
      <p:nvGrpSpPr>
        <p:cNvPr id="1" name=""/>
        <p:cNvGrpSpPr/>
        <p:nvPr/>
      </p:nvGrpSpPr>
      <p:grpSpPr>
        <a:xfrm>
          <a:off x="0" y="0"/>
          <a:ext cx="0" cy="0"/>
          <a:chOff x="0" y="0"/>
          <a:chExt cx="0" cy="0"/>
        </a:xfrm>
      </p:grpSpPr>
      <p:sp>
        <p:nvSpPr>
          <p:cNvPr id="2" name="Text 0"/>
          <p:cNvSpPr/>
          <p:nvPr/>
        </p:nvSpPr>
        <p:spPr>
          <a:xfrm>
            <a:off x="566928" y="310896"/>
            <a:ext cx="7315200" cy="201168"/>
          </a:xfrm>
          <a:prstGeom prst="rect">
            <a:avLst/>
          </a:prstGeom>
          <a:noFill/>
          <a:ln/>
        </p:spPr>
        <p:txBody>
          <a:bodyPr wrap="square" lIns="0" tIns="0" rIns="0" bIns="0" rtlCol="0" anchor="ctr"/>
          <a:lstStyle/>
          <a:p>
            <a:pPr indent="0" marL="0">
              <a:buNone/>
            </a:pPr>
            <a:r>
              <a:rPr lang="en-US" sz="800" b="1" dirty="0">
                <a:solidFill>
                  <a:srgbClr val="0F7B62"/>
                </a:solidFill>
                <a:latin typeface="Aptos" pitchFamily="34" charset="0"/>
                <a:ea typeface="Aptos" pitchFamily="34" charset="-122"/>
                <a:cs typeface="Aptos" pitchFamily="34" charset="-120"/>
              </a:rPr>
              <a:t>ÎNCHIDERE</a:t>
            </a:r>
            <a:endParaRPr lang="en-US" sz="800" dirty="0"/>
          </a:p>
        </p:txBody>
      </p:sp>
      <p:sp>
        <p:nvSpPr>
          <p:cNvPr id="3" name="Text 1"/>
          <p:cNvSpPr/>
          <p:nvPr/>
        </p:nvSpPr>
        <p:spPr>
          <a:xfrm>
            <a:off x="530352" y="603504"/>
            <a:ext cx="7863840" cy="530352"/>
          </a:xfrm>
          <a:prstGeom prst="rect">
            <a:avLst/>
          </a:prstGeom>
          <a:noFill/>
          <a:ln/>
        </p:spPr>
        <p:txBody>
          <a:bodyPr wrap="square" lIns="0" tIns="0" rIns="0" bIns="0" rtlCol="0" anchor="ctr">
            <a:normAutofit/>
          </a:bodyPr>
          <a:lstStyle/>
          <a:p>
            <a:pPr indent="0" marL="0">
              <a:buNone/>
            </a:pPr>
            <a:r>
              <a:rPr lang="en-US" sz="2500" b="1" dirty="0">
                <a:solidFill>
                  <a:srgbClr val="071524"/>
                </a:solidFill>
                <a:latin typeface="Aptos Display" pitchFamily="34" charset="0"/>
                <a:ea typeface="Aptos Display" pitchFamily="34" charset="-122"/>
                <a:cs typeface="Aptos Display" pitchFamily="34" charset="-120"/>
              </a:rPr>
              <a:t>Concluzii</a:t>
            </a:r>
            <a:endParaRPr lang="en-US" sz="2500" dirty="0"/>
          </a:p>
        </p:txBody>
      </p:sp>
      <p:pic>
        <p:nvPicPr>
          <p:cNvPr id="4" name="Image 0" descr="D:\medclin\Mediclin\Mediclin.UI\Assets\logo-mediclin.png">    </p:cNvPr>
          <p:cNvPicPr>
            <a:picLocks noChangeAspect="1"/>
          </p:cNvPicPr>
          <p:nvPr/>
        </p:nvPicPr>
        <p:blipFill>
          <a:blip r:embed="rId1"/>
          <a:stretch>
            <a:fillRect/>
          </a:stretch>
        </p:blipFill>
        <p:spPr>
          <a:xfrm>
            <a:off x="10808208" y="292608"/>
            <a:ext cx="640080" cy="640080"/>
          </a:xfrm>
          <a:prstGeom prst="rect">
            <a:avLst/>
          </a:prstGeom>
        </p:spPr>
      </p:pic>
      <p:sp>
        <p:nvSpPr>
          <p:cNvPr id="5" name="Shape 2"/>
          <p:cNvSpPr/>
          <p:nvPr/>
        </p:nvSpPr>
        <p:spPr>
          <a:xfrm>
            <a:off x="521208" y="5989320"/>
            <a:ext cx="310896" cy="310896"/>
          </a:xfrm>
          <a:prstGeom prst="ellipse">
            <a:avLst/>
          </a:prstGeom>
          <a:solidFill>
            <a:srgbClr val="0F7B62"/>
          </a:solidFill>
          <a:ln w="12700">
            <a:solidFill>
              <a:srgbClr val="0F7B62"/>
            </a:solidFill>
            <a:prstDash val="solid"/>
          </a:ln>
        </p:spPr>
      </p:sp>
      <p:sp>
        <p:nvSpPr>
          <p:cNvPr id="6" name="Text 3"/>
          <p:cNvSpPr/>
          <p:nvPr/>
        </p:nvSpPr>
        <p:spPr>
          <a:xfrm>
            <a:off x="521208" y="6071616"/>
            <a:ext cx="310896" cy="73152"/>
          </a:xfrm>
          <a:prstGeom prst="rect">
            <a:avLst/>
          </a:prstGeom>
          <a:noFill/>
          <a:ln/>
        </p:spPr>
        <p:txBody>
          <a:bodyPr wrap="square" lIns="0" tIns="0" rIns="0" bIns="0" rtlCol="0" anchor="ctr"/>
          <a:lstStyle/>
          <a:p>
            <a:pPr algn="ctr" indent="0" marL="0">
              <a:buNone/>
            </a:pPr>
            <a:r>
              <a:rPr lang="en-US" sz="650" b="1" dirty="0">
                <a:solidFill>
                  <a:srgbClr val="FFFFFF"/>
                </a:solidFill>
              </a:rPr>
              <a:t>10</a:t>
            </a:r>
            <a:endParaRPr lang="en-US" sz="650" dirty="0"/>
          </a:p>
        </p:txBody>
      </p:sp>
      <p:sp>
        <p:nvSpPr>
          <p:cNvPr id="7" name="Text 4"/>
          <p:cNvSpPr/>
          <p:nvPr/>
        </p:nvSpPr>
        <p:spPr>
          <a:xfrm>
            <a:off x="804672" y="1325880"/>
            <a:ext cx="10332720" cy="566928"/>
          </a:xfrm>
          <a:prstGeom prst="rect">
            <a:avLst/>
          </a:prstGeom>
          <a:noFill/>
          <a:ln/>
        </p:spPr>
        <p:txBody>
          <a:bodyPr wrap="square" lIns="762" tIns="762" rIns="762" bIns="762" rtlCol="0" anchor="ctr">
            <a:normAutofit/>
          </a:bodyPr>
          <a:lstStyle/>
          <a:p>
            <a:pPr algn="ctr" indent="0" marL="0">
              <a:buNone/>
            </a:pPr>
            <a:r>
              <a:rPr lang="en-US" sz="2100" b="1" dirty="0">
                <a:solidFill>
                  <a:srgbClr val="071524"/>
                </a:solidFill>
                <a:latin typeface="Aptos" pitchFamily="34" charset="0"/>
                <a:ea typeface="Aptos" pitchFamily="34" charset="-122"/>
                <a:cs typeface="Aptos" pitchFamily="34" charset="-120"/>
              </a:rPr>
              <a:t>MediClin demonstrează cum un sistem desktop poate organiza activitatea unei clinici într-un mod clar, modern și extensibil.</a:t>
            </a:r>
            <a:endParaRPr lang="en-US" sz="2100" dirty="0"/>
          </a:p>
        </p:txBody>
      </p:sp>
      <p:sp>
        <p:nvSpPr>
          <p:cNvPr id="8" name="Shape 5"/>
          <p:cNvSpPr/>
          <p:nvPr/>
        </p:nvSpPr>
        <p:spPr>
          <a:xfrm>
            <a:off x="960120" y="2423160"/>
            <a:ext cx="10241280" cy="658368"/>
          </a:xfrm>
          <a:prstGeom prst="roundRect">
            <a:avLst>
              <a:gd name="adj" fmla="val 11111"/>
            </a:avLst>
          </a:prstGeom>
          <a:solidFill>
            <a:srgbClr val="FFFFFF"/>
          </a:solidFill>
          <a:ln w="12700">
            <a:solidFill>
              <a:srgbClr val="D9E7E2"/>
            </a:solidFill>
            <a:prstDash val="solid"/>
          </a:ln>
        </p:spPr>
      </p:sp>
      <p:sp>
        <p:nvSpPr>
          <p:cNvPr id="9" name="Text 6"/>
          <p:cNvSpPr/>
          <p:nvPr/>
        </p:nvSpPr>
        <p:spPr>
          <a:xfrm>
            <a:off x="1261872" y="2587752"/>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Ce am obținut</a:t>
            </a:r>
            <a:endParaRPr lang="en-US" sz="1300" dirty="0"/>
          </a:p>
        </p:txBody>
      </p:sp>
      <p:sp>
        <p:nvSpPr>
          <p:cNvPr id="10" name="Text 7"/>
          <p:cNvSpPr/>
          <p:nvPr/>
        </p:nvSpPr>
        <p:spPr>
          <a:xfrm>
            <a:off x="3456432" y="2578608"/>
            <a:ext cx="7132320" cy="201168"/>
          </a:xfrm>
          <a:prstGeom prst="rect">
            <a:avLst/>
          </a:prstGeom>
          <a:noFill/>
          <a:ln/>
        </p:spPr>
        <p:txBody>
          <a:bodyPr wrap="square" lIns="762" tIns="762" rIns="762" bIns="762" rtlCol="0" anchor="ctr">
            <a:normAutofit/>
          </a:bodyPr>
          <a:lstStyle/>
          <a:p>
            <a:pPr indent="0" marL="0">
              <a:buNone/>
            </a:pPr>
            <a:r>
              <a:rPr lang="en-US" sz="1250" dirty="0">
                <a:solidFill>
                  <a:srgbClr val="071524"/>
                </a:solidFill>
                <a:latin typeface="Aptos" pitchFamily="34" charset="0"/>
                <a:ea typeface="Aptos" pitchFamily="34" charset="-122"/>
                <a:cs typeface="Aptos" pitchFamily="34" charset="-120"/>
              </a:rPr>
              <a:t>flux complet medic-pacient, date centralizate, exporturi și notificări</a:t>
            </a:r>
            <a:endParaRPr lang="en-US" sz="1250" dirty="0"/>
          </a:p>
        </p:txBody>
      </p:sp>
      <p:sp>
        <p:nvSpPr>
          <p:cNvPr id="11" name="Shape 8"/>
          <p:cNvSpPr/>
          <p:nvPr/>
        </p:nvSpPr>
        <p:spPr>
          <a:xfrm>
            <a:off x="960120" y="3337560"/>
            <a:ext cx="10241280" cy="658368"/>
          </a:xfrm>
          <a:prstGeom prst="roundRect">
            <a:avLst>
              <a:gd name="adj" fmla="val 11111"/>
            </a:avLst>
          </a:prstGeom>
          <a:solidFill>
            <a:srgbClr val="FFFFFF"/>
          </a:solidFill>
          <a:ln w="12700">
            <a:solidFill>
              <a:srgbClr val="D9E7E2"/>
            </a:solidFill>
            <a:prstDash val="solid"/>
          </a:ln>
        </p:spPr>
      </p:sp>
      <p:sp>
        <p:nvSpPr>
          <p:cNvPr id="12" name="Text 9"/>
          <p:cNvSpPr/>
          <p:nvPr/>
        </p:nvSpPr>
        <p:spPr>
          <a:xfrm>
            <a:off x="1261872" y="3502152"/>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Ce am învățat</a:t>
            </a:r>
            <a:endParaRPr lang="en-US" sz="1300" dirty="0"/>
          </a:p>
        </p:txBody>
      </p:sp>
      <p:sp>
        <p:nvSpPr>
          <p:cNvPr id="13" name="Text 10"/>
          <p:cNvSpPr/>
          <p:nvPr/>
        </p:nvSpPr>
        <p:spPr>
          <a:xfrm>
            <a:off x="3456432" y="3493008"/>
            <a:ext cx="7132320" cy="201168"/>
          </a:xfrm>
          <a:prstGeom prst="rect">
            <a:avLst/>
          </a:prstGeom>
          <a:noFill/>
          <a:ln/>
        </p:spPr>
        <p:txBody>
          <a:bodyPr wrap="square" lIns="762" tIns="762" rIns="762" bIns="762" rtlCol="0" anchor="ctr">
            <a:normAutofit/>
          </a:bodyPr>
          <a:lstStyle/>
          <a:p>
            <a:pPr indent="0" marL="0">
              <a:buNone/>
            </a:pPr>
            <a:r>
              <a:rPr lang="en-US" sz="1250" dirty="0">
                <a:solidFill>
                  <a:srgbClr val="071524"/>
                </a:solidFill>
                <a:latin typeface="Aptos" pitchFamily="34" charset="0"/>
                <a:ea typeface="Aptos" pitchFamily="34" charset="-122"/>
                <a:cs typeface="Aptos" pitchFamily="34" charset="-120"/>
              </a:rPr>
              <a:t>importanța arhitecturii pe straturi și a experienței utilizatorului</a:t>
            </a:r>
            <a:endParaRPr lang="en-US" sz="1250" dirty="0"/>
          </a:p>
        </p:txBody>
      </p:sp>
      <p:sp>
        <p:nvSpPr>
          <p:cNvPr id="14" name="Shape 11"/>
          <p:cNvSpPr/>
          <p:nvPr/>
        </p:nvSpPr>
        <p:spPr>
          <a:xfrm>
            <a:off x="960120" y="4251960"/>
            <a:ext cx="10241280" cy="658368"/>
          </a:xfrm>
          <a:prstGeom prst="roundRect">
            <a:avLst>
              <a:gd name="adj" fmla="val 11111"/>
            </a:avLst>
          </a:prstGeom>
          <a:solidFill>
            <a:srgbClr val="FFFFFF"/>
          </a:solidFill>
          <a:ln w="12700">
            <a:solidFill>
              <a:srgbClr val="D9E7E2"/>
            </a:solidFill>
            <a:prstDash val="solid"/>
          </a:ln>
        </p:spPr>
      </p:sp>
      <p:sp>
        <p:nvSpPr>
          <p:cNvPr id="15" name="Text 12"/>
          <p:cNvSpPr/>
          <p:nvPr/>
        </p:nvSpPr>
        <p:spPr>
          <a:xfrm>
            <a:off x="1261872" y="4416552"/>
            <a:ext cx="2011680" cy="164592"/>
          </a:xfrm>
          <a:prstGeom prst="rect">
            <a:avLst/>
          </a:prstGeom>
          <a:noFill/>
          <a:ln/>
        </p:spPr>
        <p:txBody>
          <a:bodyPr wrap="square" lIns="0" tIns="0" rIns="0" bIns="0" rtlCol="0" anchor="ctr"/>
          <a:lstStyle/>
          <a:p>
            <a:pPr indent="0" marL="0">
              <a:buNone/>
            </a:pPr>
            <a:r>
              <a:rPr lang="en-US" sz="1300" b="1" dirty="0">
                <a:solidFill>
                  <a:srgbClr val="0F7B62"/>
                </a:solidFill>
              </a:rPr>
              <a:t>Ce poate urma</a:t>
            </a:r>
            <a:endParaRPr lang="en-US" sz="1300" dirty="0"/>
          </a:p>
        </p:txBody>
      </p:sp>
      <p:sp>
        <p:nvSpPr>
          <p:cNvPr id="16" name="Text 13"/>
          <p:cNvSpPr/>
          <p:nvPr/>
        </p:nvSpPr>
        <p:spPr>
          <a:xfrm>
            <a:off x="3456432" y="4407408"/>
            <a:ext cx="7132320" cy="201168"/>
          </a:xfrm>
          <a:prstGeom prst="rect">
            <a:avLst/>
          </a:prstGeom>
          <a:noFill/>
          <a:ln/>
        </p:spPr>
        <p:txBody>
          <a:bodyPr wrap="square" lIns="762" tIns="762" rIns="762" bIns="762" rtlCol="0" anchor="ctr">
            <a:normAutofit/>
          </a:bodyPr>
          <a:lstStyle/>
          <a:p>
            <a:pPr indent="0" marL="0">
              <a:buNone/>
            </a:pPr>
            <a:r>
              <a:rPr lang="en-US" sz="1250" dirty="0">
                <a:solidFill>
                  <a:srgbClr val="071524"/>
                </a:solidFill>
                <a:latin typeface="Aptos" pitchFamily="34" charset="0"/>
                <a:ea typeface="Aptos" pitchFamily="34" charset="-122"/>
                <a:cs typeface="Aptos" pitchFamily="34" charset="-120"/>
              </a:rPr>
              <a:t>calendar avansat, semnătură digitală, rapoarte medicale mai detaliate, backup cloud</a:t>
            </a:r>
            <a:endParaRPr lang="en-US" sz="1250" dirty="0"/>
          </a:p>
        </p:txBody>
      </p:sp>
      <p:sp>
        <p:nvSpPr>
          <p:cNvPr id="17" name="Text 14"/>
          <p:cNvSpPr/>
          <p:nvPr/>
        </p:nvSpPr>
        <p:spPr>
          <a:xfrm>
            <a:off x="4434840" y="5532120"/>
            <a:ext cx="3200400" cy="274320"/>
          </a:xfrm>
          <a:prstGeom prst="rect">
            <a:avLst/>
          </a:prstGeom>
          <a:noFill/>
          <a:ln/>
        </p:spPr>
        <p:txBody>
          <a:bodyPr wrap="square" lIns="0" tIns="0" rIns="0" bIns="0" rtlCol="0" anchor="ctr"/>
          <a:lstStyle/>
          <a:p>
            <a:pPr algn="ctr" indent="0" marL="0">
              <a:buNone/>
            </a:pPr>
            <a:r>
              <a:rPr lang="en-US" sz="2400" b="1" dirty="0">
                <a:solidFill>
                  <a:srgbClr val="0F7B62"/>
                </a:solidFill>
              </a:rPr>
              <a:t>Mulțumesc!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MediClin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MediClin - Sistem de management clinic</dc:title>
  <dc:subject>Prezentare proiect MediClin</dc:subject>
  <dc:creator>MediClin</dc:creator>
  <cp:lastModifiedBy>MediClin</cp:lastModifiedBy>
  <cp:revision>1</cp:revision>
  <dcterms:created xsi:type="dcterms:W3CDTF">2026-05-19T20:59:54Z</dcterms:created>
  <dcterms:modified xsi:type="dcterms:W3CDTF">2026-05-19T20:59:54Z</dcterms:modified>
</cp:coreProperties>
</file>